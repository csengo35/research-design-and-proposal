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sldIdLst>
    <p:sldId id="256" r:id="rId2"/>
    <p:sldId id="274" r:id="rId3"/>
    <p:sldId id="275" r:id="rId4"/>
    <p:sldId id="257" r:id="rId5"/>
    <p:sldId id="276" r:id="rId6"/>
    <p:sldId id="258" r:id="rId7"/>
    <p:sldId id="268" r:id="rId8"/>
    <p:sldId id="260" r:id="rId9"/>
    <p:sldId id="259" r:id="rId10"/>
    <p:sldId id="269" r:id="rId11"/>
    <p:sldId id="272" r:id="rId12"/>
    <p:sldId id="266" r:id="rId13"/>
    <p:sldId id="27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C2743-B8ED-4C03-B80C-180A834D111E}" v="94" dt="2025-12-16T18:11:33.4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88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e Karani" userId="53ac3a4e-5d8f-427f-9526-9ea1b60f13e4" providerId="ADAL" clId="{3A4C4DAA-7D6A-4484-B795-4396F6907855}"/>
    <pc:docChg chg="undo custSel modSld sldOrd">
      <pc:chgData name="Christine Karani" userId="53ac3a4e-5d8f-427f-9526-9ea1b60f13e4" providerId="ADAL" clId="{3A4C4DAA-7D6A-4484-B795-4396F6907855}" dt="2025-12-16T18:12:54.079" v="1745" actId="20577"/>
      <pc:docMkLst>
        <pc:docMk/>
      </pc:docMkLst>
      <pc:sldChg chg="modSp mod">
        <pc:chgData name="Christine Karani" userId="53ac3a4e-5d8f-427f-9526-9ea1b60f13e4" providerId="ADAL" clId="{3A4C4DAA-7D6A-4484-B795-4396F6907855}" dt="2025-12-16T17:23:09.200" v="1026" actId="27636"/>
        <pc:sldMkLst>
          <pc:docMk/>
          <pc:sldMk cId="0" sldId="257"/>
        </pc:sldMkLst>
        <pc:spChg chg="mod">
          <ac:chgData name="Christine Karani" userId="53ac3a4e-5d8f-427f-9526-9ea1b60f13e4" providerId="ADAL" clId="{3A4C4DAA-7D6A-4484-B795-4396F6907855}" dt="2025-12-16T17:23:09.200" v="1026" actId="27636"/>
          <ac:spMkLst>
            <pc:docMk/>
            <pc:sldMk cId="0" sldId="257"/>
            <ac:spMk id="3" creationId="{00000000-0000-0000-0000-000000000000}"/>
          </ac:spMkLst>
        </pc:spChg>
      </pc:sldChg>
      <pc:sldChg chg="addSp delSp modSp mod">
        <pc:chgData name="Christine Karani" userId="53ac3a4e-5d8f-427f-9526-9ea1b60f13e4" providerId="ADAL" clId="{3A4C4DAA-7D6A-4484-B795-4396F6907855}" dt="2025-12-16T17:34:54.697" v="1469" actId="27918"/>
        <pc:sldMkLst>
          <pc:docMk/>
          <pc:sldMk cId="0" sldId="258"/>
        </pc:sldMkLst>
        <pc:spChg chg="mod">
          <ac:chgData name="Christine Karani" userId="53ac3a4e-5d8f-427f-9526-9ea1b60f13e4" providerId="ADAL" clId="{3A4C4DAA-7D6A-4484-B795-4396F6907855}" dt="2025-12-16T17:29:46.458" v="1405" actId="1076"/>
          <ac:spMkLst>
            <pc:docMk/>
            <pc:sldMk cId="0" sldId="258"/>
            <ac:spMk id="2" creationId="{00000000-0000-0000-0000-000000000000}"/>
          </ac:spMkLst>
        </pc:spChg>
        <pc:spChg chg="mod">
          <ac:chgData name="Christine Karani" userId="53ac3a4e-5d8f-427f-9526-9ea1b60f13e4" providerId="ADAL" clId="{3A4C4DAA-7D6A-4484-B795-4396F6907855}" dt="2025-12-16T17:30:10.040" v="1407" actId="20577"/>
          <ac:spMkLst>
            <pc:docMk/>
            <pc:sldMk cId="0" sldId="258"/>
            <ac:spMk id="3" creationId="{00000000-0000-0000-0000-000000000000}"/>
          </ac:spMkLst>
        </pc:spChg>
        <pc:graphicFrameChg chg="del">
          <ac:chgData name="Christine Karani" userId="53ac3a4e-5d8f-427f-9526-9ea1b60f13e4" providerId="ADAL" clId="{3A4C4DAA-7D6A-4484-B795-4396F6907855}" dt="2025-12-16T17:30:16.670" v="1408" actId="478"/>
          <ac:graphicFrameMkLst>
            <pc:docMk/>
            <pc:sldMk cId="0" sldId="258"/>
            <ac:graphicFrameMk id="6" creationId="{6159B34E-3B11-DAE8-65CA-C9D150B3D070}"/>
          </ac:graphicFrameMkLst>
        </pc:graphicFrameChg>
        <pc:graphicFrameChg chg="add mod">
          <ac:chgData name="Christine Karani" userId="53ac3a4e-5d8f-427f-9526-9ea1b60f13e4" providerId="ADAL" clId="{3A4C4DAA-7D6A-4484-B795-4396F6907855}" dt="2025-12-16T17:34:05.378" v="1462" actId="20577"/>
          <ac:graphicFrameMkLst>
            <pc:docMk/>
            <pc:sldMk cId="0" sldId="258"/>
            <ac:graphicFrameMk id="8" creationId="{2053FD02-1AE8-2E3F-C75C-13A6F5C35FBE}"/>
          </ac:graphicFrameMkLst>
        </pc:graphicFrameChg>
        <pc:picChg chg="del">
          <ac:chgData name="Christine Karani" userId="53ac3a4e-5d8f-427f-9526-9ea1b60f13e4" providerId="ADAL" clId="{3A4C4DAA-7D6A-4484-B795-4396F6907855}" dt="2025-12-16T17:30:21.070" v="1409" actId="478"/>
          <ac:picMkLst>
            <pc:docMk/>
            <pc:sldMk cId="0" sldId="258"/>
            <ac:picMk id="7" creationId="{787AF3F6-3AF4-1775-AE5B-635001460752}"/>
          </ac:picMkLst>
        </pc:picChg>
      </pc:sldChg>
      <pc:sldChg chg="addSp delSp modSp mod">
        <pc:chgData name="Christine Karani" userId="53ac3a4e-5d8f-427f-9526-9ea1b60f13e4" providerId="ADAL" clId="{3A4C4DAA-7D6A-4484-B795-4396F6907855}" dt="2025-12-16T17:45:59.928" v="1631" actId="6549"/>
        <pc:sldMkLst>
          <pc:docMk/>
          <pc:sldMk cId="0" sldId="259"/>
        </pc:sldMkLst>
        <pc:spChg chg="mod">
          <ac:chgData name="Christine Karani" userId="53ac3a4e-5d8f-427f-9526-9ea1b60f13e4" providerId="ADAL" clId="{3A4C4DAA-7D6A-4484-B795-4396F6907855}" dt="2025-12-16T17:41:32.844" v="1510" actId="27636"/>
          <ac:spMkLst>
            <pc:docMk/>
            <pc:sldMk cId="0" sldId="259"/>
            <ac:spMk id="2" creationId="{00000000-0000-0000-0000-000000000000}"/>
          </ac:spMkLst>
        </pc:spChg>
        <pc:spChg chg="mod">
          <ac:chgData name="Christine Karani" userId="53ac3a4e-5d8f-427f-9526-9ea1b60f13e4" providerId="ADAL" clId="{3A4C4DAA-7D6A-4484-B795-4396F6907855}" dt="2025-12-16T17:45:59.928" v="1631" actId="6549"/>
          <ac:spMkLst>
            <pc:docMk/>
            <pc:sldMk cId="0" sldId="259"/>
            <ac:spMk id="3" creationId="{00000000-0000-0000-0000-000000000000}"/>
          </ac:spMkLst>
        </pc:spChg>
        <pc:graphicFrameChg chg="add del mod modGraphic">
          <ac:chgData name="Christine Karani" userId="53ac3a4e-5d8f-427f-9526-9ea1b60f13e4" providerId="ADAL" clId="{3A4C4DAA-7D6A-4484-B795-4396F6907855}" dt="2025-12-16T17:42:49.771" v="1517" actId="478"/>
          <ac:graphicFrameMkLst>
            <pc:docMk/>
            <pc:sldMk cId="0" sldId="259"/>
            <ac:graphicFrameMk id="4" creationId="{90B3DCBA-12C3-0D76-4603-DF9A9375E00E}"/>
          </ac:graphicFrameMkLst>
        </pc:graphicFrameChg>
        <pc:graphicFrameChg chg="add del">
          <ac:chgData name="Christine Karani" userId="53ac3a4e-5d8f-427f-9526-9ea1b60f13e4" providerId="ADAL" clId="{3A4C4DAA-7D6A-4484-B795-4396F6907855}" dt="2025-12-16T17:42:17.301" v="1513" actId="478"/>
          <ac:graphicFrameMkLst>
            <pc:docMk/>
            <pc:sldMk cId="0" sldId="259"/>
            <ac:graphicFrameMk id="5" creationId="{32FFFD56-6289-7ADE-3DE9-A4BB14AA87C4}"/>
          </ac:graphicFrameMkLst>
        </pc:graphicFrameChg>
        <pc:graphicFrameChg chg="add mod modGraphic">
          <ac:chgData name="Christine Karani" userId="53ac3a4e-5d8f-427f-9526-9ea1b60f13e4" providerId="ADAL" clId="{3A4C4DAA-7D6A-4484-B795-4396F6907855}" dt="2025-12-16T17:44:48.708" v="1535" actId="122"/>
          <ac:graphicFrameMkLst>
            <pc:docMk/>
            <pc:sldMk cId="0" sldId="259"/>
            <ac:graphicFrameMk id="6" creationId="{D9C14017-17D7-BBDE-2495-BAD0C6D9128B}"/>
          </ac:graphicFrameMkLst>
        </pc:graphicFrameChg>
      </pc:sldChg>
      <pc:sldChg chg="addSp delSp modSp mod ord">
        <pc:chgData name="Christine Karani" userId="53ac3a4e-5d8f-427f-9526-9ea1b60f13e4" providerId="ADAL" clId="{3A4C4DAA-7D6A-4484-B795-4396F6907855}" dt="2025-12-16T18:12:54.079" v="1745" actId="20577"/>
        <pc:sldMkLst>
          <pc:docMk/>
          <pc:sldMk cId="1300146796" sldId="268"/>
        </pc:sldMkLst>
        <pc:spChg chg="mod">
          <ac:chgData name="Christine Karani" userId="53ac3a4e-5d8f-427f-9526-9ea1b60f13e4" providerId="ADAL" clId="{3A4C4DAA-7D6A-4484-B795-4396F6907855}" dt="2025-12-16T17:53:03.987" v="1657" actId="20577"/>
          <ac:spMkLst>
            <pc:docMk/>
            <pc:sldMk cId="1300146796" sldId="268"/>
            <ac:spMk id="2" creationId="{6300BAFB-8284-33B0-7E5F-8B0C45FC5DCE}"/>
          </ac:spMkLst>
        </pc:spChg>
        <pc:spChg chg="mod">
          <ac:chgData name="Christine Karani" userId="53ac3a4e-5d8f-427f-9526-9ea1b60f13e4" providerId="ADAL" clId="{3A4C4DAA-7D6A-4484-B795-4396F6907855}" dt="2025-12-16T18:12:54.079" v="1745" actId="20577"/>
          <ac:spMkLst>
            <pc:docMk/>
            <pc:sldMk cId="1300146796" sldId="268"/>
            <ac:spMk id="3" creationId="{9FAD2419-3A03-0B41-A208-565C48D52036}"/>
          </ac:spMkLst>
        </pc:spChg>
        <pc:graphicFrameChg chg="del">
          <ac:chgData name="Christine Karani" userId="53ac3a4e-5d8f-427f-9526-9ea1b60f13e4" providerId="ADAL" clId="{3A4C4DAA-7D6A-4484-B795-4396F6907855}" dt="2025-12-16T17:54:22.505" v="1701" actId="478"/>
          <ac:graphicFrameMkLst>
            <pc:docMk/>
            <pc:sldMk cId="1300146796" sldId="268"/>
            <ac:graphicFrameMk id="6" creationId="{70DA041A-475B-0C32-9FB7-AA0DB5A6E6BA}"/>
          </ac:graphicFrameMkLst>
        </pc:graphicFrameChg>
        <pc:graphicFrameChg chg="add mod">
          <ac:chgData name="Christine Karani" userId="53ac3a4e-5d8f-427f-9526-9ea1b60f13e4" providerId="ADAL" clId="{3A4C4DAA-7D6A-4484-B795-4396F6907855}" dt="2025-12-16T18:11:33.467" v="1744" actId="20577"/>
          <ac:graphicFrameMkLst>
            <pc:docMk/>
            <pc:sldMk cId="1300146796" sldId="268"/>
            <ac:graphicFrameMk id="7" creationId="{36F990DA-9ADF-2C22-E2AE-3301950EAAC6}"/>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Cluster By Pay Ratio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pay_ratio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c:v>
                </c:pt>
                <c:pt idx="1">
                  <c:v>2</c:v>
                </c:pt>
                <c:pt idx="2">
                  <c:v>3</c:v>
                </c:pt>
              </c:strCache>
            </c:strRef>
          </c:cat>
          <c:val>
            <c:numRef>
              <c:f>Sheet1!$B$2:$B$4</c:f>
              <c:numCache>
                <c:formatCode>0.0</c:formatCode>
                <c:ptCount val="3"/>
                <c:pt idx="0">
                  <c:v>73.587409559276011</c:v>
                </c:pt>
                <c:pt idx="1">
                  <c:v>85.732660601827291</c:v>
                </c:pt>
                <c:pt idx="2">
                  <c:v>78.634205568428087</c:v>
                </c:pt>
              </c:numCache>
            </c:numRef>
          </c:val>
          <c:extLst>
            <c:ext xmlns:c16="http://schemas.microsoft.com/office/drawing/2014/chart" uri="{C3380CC4-5D6E-409C-BE32-E72D297353CC}">
              <c16:uniqueId val="{00000000-0417-47F4-A690-2577AD2867E0}"/>
            </c:ext>
          </c:extLst>
        </c:ser>
        <c:dLbls>
          <c:dLblPos val="outEnd"/>
          <c:showLegendKey val="0"/>
          <c:showVal val="1"/>
          <c:showCatName val="0"/>
          <c:showSerName val="0"/>
          <c:showPercent val="0"/>
          <c:showBubbleSize val="0"/>
        </c:dLbls>
        <c:gapWidth val="219"/>
        <c:overlap val="-27"/>
        <c:axId val="1024429728"/>
        <c:axId val="1024430208"/>
      </c:barChart>
      <c:catAx>
        <c:axId val="1024429728"/>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t>Cluster</a:t>
                </a:r>
                <a:endParaRPr lang="en-KE"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K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24430208"/>
        <c:crosses val="autoZero"/>
        <c:auto val="1"/>
        <c:lblAlgn val="ctr"/>
        <c:lblOffset val="100"/>
        <c:noMultiLvlLbl val="0"/>
      </c:catAx>
      <c:valAx>
        <c:axId val="1024430208"/>
        <c:scaling>
          <c:orientation val="minMax"/>
          <c:max val="100"/>
          <c:min val="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024429728"/>
        <c:crosses val="autoZero"/>
        <c:crossBetween val="between"/>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dirty="0"/>
              <a:t>Customer Type by Cluster</a:t>
            </a:r>
            <a:endParaRPr lang="en-KE" dirty="0"/>
          </a:p>
        </c:rich>
      </c:tx>
      <c:layout>
        <c:manualLayout>
          <c:xMode val="edge"/>
          <c:yMode val="edge"/>
          <c:x val="0.19866963334214272"/>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Domestic</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Sheet1!$B$2:$B$4</c:f>
              <c:numCache>
                <c:formatCode>0</c:formatCode>
                <c:ptCount val="3"/>
                <c:pt idx="0">
                  <c:v>91.946308724832221</c:v>
                </c:pt>
                <c:pt idx="1">
                  <c:v>99.4</c:v>
                </c:pt>
                <c:pt idx="2">
                  <c:v>0</c:v>
                </c:pt>
              </c:numCache>
            </c:numRef>
          </c:val>
          <c:extLst>
            <c:ext xmlns:c16="http://schemas.microsoft.com/office/drawing/2014/chart" uri="{C3380CC4-5D6E-409C-BE32-E72D297353CC}">
              <c16:uniqueId val="{00000000-C404-460C-8C24-146CAB056BB4}"/>
            </c:ext>
          </c:extLst>
        </c:ser>
        <c:ser>
          <c:idx val="1"/>
          <c:order val="1"/>
          <c:tx>
            <c:strRef>
              <c:f>Sheet1!$C$1</c:f>
              <c:strCache>
                <c:ptCount val="1"/>
                <c:pt idx="0">
                  <c:v>Commercial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Sheet1!$C$2:$C$4</c:f>
              <c:numCache>
                <c:formatCode>0</c:formatCode>
                <c:ptCount val="3"/>
                <c:pt idx="0">
                  <c:v>7.3825503355704702</c:v>
                </c:pt>
                <c:pt idx="1">
                  <c:v>0.6</c:v>
                </c:pt>
                <c:pt idx="2">
                  <c:v>73.509933774834437</c:v>
                </c:pt>
              </c:numCache>
            </c:numRef>
          </c:val>
          <c:extLst>
            <c:ext xmlns:c16="http://schemas.microsoft.com/office/drawing/2014/chart" uri="{C3380CC4-5D6E-409C-BE32-E72D297353CC}">
              <c16:uniqueId val="{00000001-C404-460C-8C24-146CAB056BB4}"/>
            </c:ext>
          </c:extLst>
        </c:ser>
        <c:ser>
          <c:idx val="2"/>
          <c:order val="2"/>
          <c:tx>
            <c:strRef>
              <c:f>Sheet1!$D$1</c:f>
              <c:strCache>
                <c:ptCount val="1"/>
                <c:pt idx="0">
                  <c:v>Institutional</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Sheet1!$D$2:$D$4</c:f>
              <c:numCache>
                <c:formatCode>0</c:formatCode>
                <c:ptCount val="3"/>
                <c:pt idx="0">
                  <c:v>0.67114093959731547</c:v>
                </c:pt>
                <c:pt idx="1">
                  <c:v>0</c:v>
                </c:pt>
                <c:pt idx="2">
                  <c:v>26.49006622516556</c:v>
                </c:pt>
              </c:numCache>
            </c:numRef>
          </c:val>
          <c:extLst>
            <c:ext xmlns:c16="http://schemas.microsoft.com/office/drawing/2014/chart" uri="{C3380CC4-5D6E-409C-BE32-E72D297353CC}">
              <c16:uniqueId val="{00000002-C404-460C-8C24-146CAB056BB4}"/>
            </c:ext>
          </c:extLst>
        </c:ser>
        <c:dLbls>
          <c:dLblPos val="outEnd"/>
          <c:showLegendKey val="0"/>
          <c:showVal val="1"/>
          <c:showCatName val="0"/>
          <c:showSerName val="0"/>
          <c:showPercent val="0"/>
          <c:showBubbleSize val="0"/>
        </c:dLbls>
        <c:gapWidth val="219"/>
        <c:overlap val="-27"/>
        <c:axId val="946558688"/>
        <c:axId val="946581728"/>
      </c:barChart>
      <c:catAx>
        <c:axId val="946558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46581728"/>
        <c:crosses val="autoZero"/>
        <c:auto val="1"/>
        <c:lblAlgn val="ctr"/>
        <c:lblOffset val="100"/>
        <c:noMultiLvlLbl val="0"/>
      </c:catAx>
      <c:valAx>
        <c:axId val="946581728"/>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946558688"/>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a:t>Cluster by Zone</a:t>
            </a:r>
            <a:endParaRPr lang="en-KE"/>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Zone 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Sheet1!$B$2:$B$4</c:f>
              <c:numCache>
                <c:formatCode>General</c:formatCode>
                <c:ptCount val="3"/>
                <c:pt idx="0">
                  <c:v>34</c:v>
                </c:pt>
                <c:pt idx="1">
                  <c:v>26</c:v>
                </c:pt>
                <c:pt idx="2">
                  <c:v>23</c:v>
                </c:pt>
              </c:numCache>
            </c:numRef>
          </c:val>
          <c:extLst>
            <c:ext xmlns:c16="http://schemas.microsoft.com/office/drawing/2014/chart" uri="{C3380CC4-5D6E-409C-BE32-E72D297353CC}">
              <c16:uniqueId val="{00000000-B3C8-4606-8F65-111BA8EFC4D0}"/>
            </c:ext>
          </c:extLst>
        </c:ser>
        <c:ser>
          <c:idx val="1"/>
          <c:order val="1"/>
          <c:tx>
            <c:strRef>
              <c:f>Sheet1!$C$1</c:f>
              <c:strCache>
                <c:ptCount val="1"/>
                <c:pt idx="0">
                  <c:v>Zone B</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Sheet1!$C$2:$C$4</c:f>
              <c:numCache>
                <c:formatCode>General</c:formatCode>
                <c:ptCount val="3"/>
                <c:pt idx="0">
                  <c:v>24</c:v>
                </c:pt>
                <c:pt idx="1">
                  <c:v>25</c:v>
                </c:pt>
                <c:pt idx="2">
                  <c:v>29</c:v>
                </c:pt>
              </c:numCache>
            </c:numRef>
          </c:val>
          <c:extLst>
            <c:ext xmlns:c16="http://schemas.microsoft.com/office/drawing/2014/chart" uri="{C3380CC4-5D6E-409C-BE32-E72D297353CC}">
              <c16:uniqueId val="{00000001-B3C8-4606-8F65-111BA8EFC4D0}"/>
            </c:ext>
          </c:extLst>
        </c:ser>
        <c:ser>
          <c:idx val="2"/>
          <c:order val="2"/>
          <c:tx>
            <c:strRef>
              <c:f>Sheet1!$D$1</c:f>
              <c:strCache>
                <c:ptCount val="1"/>
                <c:pt idx="0">
                  <c:v>Zone C</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Sheet1!$D$2:$D$4</c:f>
              <c:numCache>
                <c:formatCode>General</c:formatCode>
                <c:ptCount val="3"/>
                <c:pt idx="0">
                  <c:v>23</c:v>
                </c:pt>
                <c:pt idx="1">
                  <c:v>27</c:v>
                </c:pt>
                <c:pt idx="2">
                  <c:v>24</c:v>
                </c:pt>
              </c:numCache>
            </c:numRef>
          </c:val>
          <c:extLst>
            <c:ext xmlns:c16="http://schemas.microsoft.com/office/drawing/2014/chart" uri="{C3380CC4-5D6E-409C-BE32-E72D297353CC}">
              <c16:uniqueId val="{00000002-B3C8-4606-8F65-111BA8EFC4D0}"/>
            </c:ext>
          </c:extLst>
        </c:ser>
        <c:ser>
          <c:idx val="3"/>
          <c:order val="3"/>
          <c:tx>
            <c:strRef>
              <c:f>Sheet1!$E$1</c:f>
              <c:strCache>
                <c:ptCount val="1"/>
                <c:pt idx="0">
                  <c:v>Zone D</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1</c:v>
                </c:pt>
                <c:pt idx="1">
                  <c:v>2</c:v>
                </c:pt>
                <c:pt idx="2">
                  <c:v>3</c:v>
                </c:pt>
              </c:numCache>
            </c:numRef>
          </c:cat>
          <c:val>
            <c:numRef>
              <c:f>Sheet1!$E$2:$E$4</c:f>
              <c:numCache>
                <c:formatCode>General</c:formatCode>
                <c:ptCount val="3"/>
                <c:pt idx="0">
                  <c:v>19</c:v>
                </c:pt>
                <c:pt idx="1">
                  <c:v>22</c:v>
                </c:pt>
                <c:pt idx="2">
                  <c:v>24</c:v>
                </c:pt>
              </c:numCache>
            </c:numRef>
          </c:val>
          <c:extLst>
            <c:ext xmlns:c16="http://schemas.microsoft.com/office/drawing/2014/chart" uri="{C3380CC4-5D6E-409C-BE32-E72D297353CC}">
              <c16:uniqueId val="{00000003-B3C8-4606-8F65-111BA8EFC4D0}"/>
            </c:ext>
          </c:extLst>
        </c:ser>
        <c:dLbls>
          <c:dLblPos val="outEnd"/>
          <c:showLegendKey val="0"/>
          <c:showVal val="1"/>
          <c:showCatName val="0"/>
          <c:showSerName val="0"/>
          <c:showPercent val="0"/>
          <c:showBubbleSize val="0"/>
        </c:dLbls>
        <c:gapWidth val="219"/>
        <c:overlap val="-27"/>
        <c:axId val="1210966687"/>
        <c:axId val="1210967167"/>
      </c:barChart>
      <c:catAx>
        <c:axId val="12109666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210967167"/>
        <c:crosses val="autoZero"/>
        <c:auto val="1"/>
        <c:lblAlgn val="ctr"/>
        <c:lblOffset val="100"/>
        <c:noMultiLvlLbl val="0"/>
      </c:catAx>
      <c:valAx>
        <c:axId val="1210967167"/>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210966687"/>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dirty="0"/>
              <a:t>Cluster vs Revenue vs Complaints vs Disconnection Rate</a:t>
            </a:r>
            <a:endParaRPr lang="en-KE"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KE"/>
        </a:p>
      </c:txPr>
    </c:title>
    <c:autoTitleDeleted val="0"/>
    <c:plotArea>
      <c:layout/>
      <c:barChart>
        <c:barDir val="col"/>
        <c:grouping val="clustered"/>
        <c:varyColors val="0"/>
        <c:ser>
          <c:idx val="0"/>
          <c:order val="0"/>
          <c:tx>
            <c:strRef>
              <c:f>Sheet1!$B$1</c:f>
              <c:strCache>
                <c:ptCount val="1"/>
                <c:pt idx="0">
                  <c:v>Pay Ratio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c:v>
                </c:pt>
                <c:pt idx="1">
                  <c:v>2</c:v>
                </c:pt>
                <c:pt idx="2">
                  <c:v>3</c:v>
                </c:pt>
              </c:strCache>
            </c:strRef>
          </c:cat>
          <c:val>
            <c:numRef>
              <c:f>Sheet1!$B$2:$B$4</c:f>
              <c:numCache>
                <c:formatCode>0</c:formatCode>
                <c:ptCount val="3"/>
                <c:pt idx="0">
                  <c:v>73.587409559276011</c:v>
                </c:pt>
                <c:pt idx="1">
                  <c:v>85.732660601827291</c:v>
                </c:pt>
                <c:pt idx="2">
                  <c:v>78.634205568428087</c:v>
                </c:pt>
              </c:numCache>
            </c:numRef>
          </c:val>
          <c:extLst>
            <c:ext xmlns:c16="http://schemas.microsoft.com/office/drawing/2014/chart" uri="{C3380CC4-5D6E-409C-BE32-E72D297353CC}">
              <c16:uniqueId val="{00000000-2DBB-4233-BCBD-D77E293A6529}"/>
            </c:ext>
          </c:extLst>
        </c:ser>
        <c:ser>
          <c:idx val="1"/>
          <c:order val="1"/>
          <c:tx>
            <c:strRef>
              <c:f>Sheet1!$C$1</c:f>
              <c:strCache>
                <c:ptCount val="1"/>
                <c:pt idx="0">
                  <c:v>Arrears Rate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c:v>
                </c:pt>
                <c:pt idx="1">
                  <c:v>2</c:v>
                </c:pt>
                <c:pt idx="2">
                  <c:v>3</c:v>
                </c:pt>
              </c:strCache>
            </c:strRef>
          </c:cat>
          <c:val>
            <c:numRef>
              <c:f>Sheet1!$C$2:$C$4</c:f>
              <c:numCache>
                <c:formatCode>0</c:formatCode>
                <c:ptCount val="3"/>
                <c:pt idx="0">
                  <c:v>13.422818791946309</c:v>
                </c:pt>
                <c:pt idx="1">
                  <c:v>1.966666666666667</c:v>
                </c:pt>
                <c:pt idx="2">
                  <c:v>6.6225165562913899</c:v>
                </c:pt>
              </c:numCache>
            </c:numRef>
          </c:val>
          <c:extLst>
            <c:ext xmlns:c16="http://schemas.microsoft.com/office/drawing/2014/chart" uri="{C3380CC4-5D6E-409C-BE32-E72D297353CC}">
              <c16:uniqueId val="{00000001-2DBB-4233-BCBD-D77E293A6529}"/>
            </c:ext>
          </c:extLst>
        </c:ser>
        <c:ser>
          <c:idx val="2"/>
          <c:order val="2"/>
          <c:tx>
            <c:strRef>
              <c:f>Sheet1!$D$1</c:f>
              <c:strCache>
                <c:ptCount val="1"/>
                <c:pt idx="0">
                  <c:v>Disconnection Rate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c:v>
                </c:pt>
                <c:pt idx="1">
                  <c:v>2</c:v>
                </c:pt>
                <c:pt idx="2">
                  <c:v>3</c:v>
                </c:pt>
              </c:strCache>
            </c:strRef>
          </c:cat>
          <c:val>
            <c:numRef>
              <c:f>Sheet1!$D$2:$D$4</c:f>
              <c:numCache>
                <c:formatCode>0</c:formatCode>
                <c:ptCount val="3"/>
                <c:pt idx="0">
                  <c:v>6.3199105145413865</c:v>
                </c:pt>
                <c:pt idx="1">
                  <c:v>0</c:v>
                </c:pt>
                <c:pt idx="2">
                  <c:v>1.876379690949227</c:v>
                </c:pt>
              </c:numCache>
            </c:numRef>
          </c:val>
          <c:extLst>
            <c:ext xmlns:c16="http://schemas.microsoft.com/office/drawing/2014/chart" uri="{C3380CC4-5D6E-409C-BE32-E72D297353CC}">
              <c16:uniqueId val="{00000002-2DBB-4233-BCBD-D77E293A6529}"/>
            </c:ext>
          </c:extLst>
        </c:ser>
        <c:ser>
          <c:idx val="3"/>
          <c:order val="3"/>
          <c:tx>
            <c:strRef>
              <c:f>Sheet1!$E$1</c:f>
              <c:strCache>
                <c:ptCount val="1"/>
                <c:pt idx="0">
                  <c:v>Complaints Rate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K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1</c:v>
                </c:pt>
                <c:pt idx="1">
                  <c:v>2</c:v>
                </c:pt>
                <c:pt idx="2">
                  <c:v>3</c:v>
                </c:pt>
              </c:strCache>
            </c:strRef>
          </c:cat>
          <c:val>
            <c:numRef>
              <c:f>Sheet1!$E$2:$E$4</c:f>
              <c:numCache>
                <c:formatCode>0</c:formatCode>
                <c:ptCount val="3"/>
                <c:pt idx="0">
                  <c:v>5.6487695749440725</c:v>
                </c:pt>
                <c:pt idx="1">
                  <c:v>5.0166666666666657</c:v>
                </c:pt>
                <c:pt idx="2">
                  <c:v>5.1876379690949221</c:v>
                </c:pt>
              </c:numCache>
            </c:numRef>
          </c:val>
          <c:extLst>
            <c:ext xmlns:c16="http://schemas.microsoft.com/office/drawing/2014/chart" uri="{C3380CC4-5D6E-409C-BE32-E72D297353CC}">
              <c16:uniqueId val="{00000003-2DBB-4233-BCBD-D77E293A6529}"/>
            </c:ext>
          </c:extLst>
        </c:ser>
        <c:dLbls>
          <c:dLblPos val="outEnd"/>
          <c:showLegendKey val="0"/>
          <c:showVal val="1"/>
          <c:showCatName val="0"/>
          <c:showSerName val="0"/>
          <c:showPercent val="0"/>
          <c:showBubbleSize val="0"/>
        </c:dLbls>
        <c:gapWidth val="219"/>
        <c:overlap val="-27"/>
        <c:axId val="1137897264"/>
        <c:axId val="1217904719"/>
      </c:barChart>
      <c:catAx>
        <c:axId val="1137897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217904719"/>
        <c:crosses val="autoZero"/>
        <c:auto val="1"/>
        <c:lblAlgn val="ctr"/>
        <c:lblOffset val="100"/>
        <c:noMultiLvlLbl val="0"/>
      </c:catAx>
      <c:valAx>
        <c:axId val="121790471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crossAx val="1137897264"/>
        <c:crosses val="autoZero"/>
        <c:crossBetween val="between"/>
        <c:majorUnit val="2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K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K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463A38-41E3-4875-B5A2-1565B7A1E2D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5E57020-38BC-4C3C-AE54-49EB1530F5A7}">
      <dgm:prSet/>
      <dgm:spPr/>
      <dgm:t>
        <a:bodyPr/>
        <a:lstStyle/>
        <a:p>
          <a:r>
            <a:rPr lang="en-GB"/>
            <a:t>Background</a:t>
          </a:r>
          <a:endParaRPr lang="en-US"/>
        </a:p>
      </dgm:t>
    </dgm:pt>
    <dgm:pt modelId="{BB15F6A0-D335-4C0E-9DAA-BCFE46EA6E7B}" type="parTrans" cxnId="{E30695BE-A40F-4CE9-ADAF-56BDD1747134}">
      <dgm:prSet/>
      <dgm:spPr/>
      <dgm:t>
        <a:bodyPr/>
        <a:lstStyle/>
        <a:p>
          <a:endParaRPr lang="en-US"/>
        </a:p>
      </dgm:t>
    </dgm:pt>
    <dgm:pt modelId="{C151D1C5-55F1-4919-8774-4DF7453A4DDC}" type="sibTrans" cxnId="{E30695BE-A40F-4CE9-ADAF-56BDD1747134}">
      <dgm:prSet/>
      <dgm:spPr/>
      <dgm:t>
        <a:bodyPr/>
        <a:lstStyle/>
        <a:p>
          <a:endParaRPr lang="en-US"/>
        </a:p>
      </dgm:t>
    </dgm:pt>
    <dgm:pt modelId="{31CF9DA0-ACB7-4634-8359-7D5F8C6C73DA}">
      <dgm:prSet/>
      <dgm:spPr/>
      <dgm:t>
        <a:bodyPr/>
        <a:lstStyle/>
        <a:p>
          <a:r>
            <a:rPr lang="en-GB"/>
            <a:t>Executive Summary</a:t>
          </a:r>
          <a:endParaRPr lang="en-US"/>
        </a:p>
      </dgm:t>
    </dgm:pt>
    <dgm:pt modelId="{42DB7DD6-49B3-488B-9C83-793535F3DEFF}" type="parTrans" cxnId="{298B2612-D21B-4859-AE07-785E2A19D455}">
      <dgm:prSet/>
      <dgm:spPr/>
      <dgm:t>
        <a:bodyPr/>
        <a:lstStyle/>
        <a:p>
          <a:endParaRPr lang="en-US"/>
        </a:p>
      </dgm:t>
    </dgm:pt>
    <dgm:pt modelId="{49151783-DCE3-4CEF-87BE-7258172E60B4}" type="sibTrans" cxnId="{298B2612-D21B-4859-AE07-785E2A19D455}">
      <dgm:prSet/>
      <dgm:spPr/>
      <dgm:t>
        <a:bodyPr/>
        <a:lstStyle/>
        <a:p>
          <a:endParaRPr lang="en-US"/>
        </a:p>
      </dgm:t>
    </dgm:pt>
    <dgm:pt modelId="{40FFF9D0-4D78-48CF-B3B4-EA9624D95B35}">
      <dgm:prSet/>
      <dgm:spPr/>
      <dgm:t>
        <a:bodyPr/>
        <a:lstStyle/>
        <a:p>
          <a:r>
            <a:rPr lang="en-GB"/>
            <a:t>Key Findings</a:t>
          </a:r>
          <a:endParaRPr lang="en-US"/>
        </a:p>
      </dgm:t>
    </dgm:pt>
    <dgm:pt modelId="{6BDD0B0F-C11B-4242-8E35-A938F5BA16A9}" type="parTrans" cxnId="{7A549955-5B1E-4C93-80AB-946E25F1ED5B}">
      <dgm:prSet/>
      <dgm:spPr/>
      <dgm:t>
        <a:bodyPr/>
        <a:lstStyle/>
        <a:p>
          <a:endParaRPr lang="en-US"/>
        </a:p>
      </dgm:t>
    </dgm:pt>
    <dgm:pt modelId="{D54431D7-88FB-4C23-9864-648C52E49DAE}" type="sibTrans" cxnId="{7A549955-5B1E-4C93-80AB-946E25F1ED5B}">
      <dgm:prSet/>
      <dgm:spPr/>
      <dgm:t>
        <a:bodyPr/>
        <a:lstStyle/>
        <a:p>
          <a:endParaRPr lang="en-US"/>
        </a:p>
      </dgm:t>
    </dgm:pt>
    <dgm:pt modelId="{3A4149E6-809F-420F-9BE3-4FA2312106D5}">
      <dgm:prSet/>
      <dgm:spPr/>
      <dgm:t>
        <a:bodyPr/>
        <a:lstStyle/>
        <a:p>
          <a:r>
            <a:rPr lang="en-GB"/>
            <a:t>Conclusions</a:t>
          </a:r>
          <a:endParaRPr lang="en-US"/>
        </a:p>
      </dgm:t>
    </dgm:pt>
    <dgm:pt modelId="{B5092A24-B072-4378-B050-CB3FFEFC206E}" type="parTrans" cxnId="{3663D7F2-5410-4B08-AC21-380A1F458A1A}">
      <dgm:prSet/>
      <dgm:spPr/>
      <dgm:t>
        <a:bodyPr/>
        <a:lstStyle/>
        <a:p>
          <a:endParaRPr lang="en-US"/>
        </a:p>
      </dgm:t>
    </dgm:pt>
    <dgm:pt modelId="{AC0692BC-88E3-4157-8359-0C8390DA1E0B}" type="sibTrans" cxnId="{3663D7F2-5410-4B08-AC21-380A1F458A1A}">
      <dgm:prSet/>
      <dgm:spPr/>
      <dgm:t>
        <a:bodyPr/>
        <a:lstStyle/>
        <a:p>
          <a:endParaRPr lang="en-US"/>
        </a:p>
      </dgm:t>
    </dgm:pt>
    <dgm:pt modelId="{146A01A1-D744-4CC9-9301-CACA27FB8F97}" type="pres">
      <dgm:prSet presAssocID="{BC463A38-41E3-4875-B5A2-1565B7A1E2DF}" presName="root" presStyleCnt="0">
        <dgm:presLayoutVars>
          <dgm:dir/>
          <dgm:resizeHandles val="exact"/>
        </dgm:presLayoutVars>
      </dgm:prSet>
      <dgm:spPr/>
    </dgm:pt>
    <dgm:pt modelId="{30021128-6EC6-45C1-A1DF-153757C899A3}" type="pres">
      <dgm:prSet presAssocID="{75E57020-38BC-4C3C-AE54-49EB1530F5A7}" presName="compNode" presStyleCnt="0"/>
      <dgm:spPr/>
    </dgm:pt>
    <dgm:pt modelId="{3FD2A80D-E0BC-4805-80E3-732D0D99C349}" type="pres">
      <dgm:prSet presAssocID="{75E57020-38BC-4C3C-AE54-49EB1530F5A7}" presName="bgRect" presStyleLbl="bgShp" presStyleIdx="0" presStyleCnt="4"/>
      <dgm:spPr/>
    </dgm:pt>
    <dgm:pt modelId="{16275065-8276-4DE2-A59D-7FAE058FCBC6}" type="pres">
      <dgm:prSet presAssocID="{75E57020-38BC-4C3C-AE54-49EB1530F5A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ducation"/>
        </a:ext>
      </dgm:extLst>
    </dgm:pt>
    <dgm:pt modelId="{F2532F0B-01F0-44CC-89AE-154FD832BB0D}" type="pres">
      <dgm:prSet presAssocID="{75E57020-38BC-4C3C-AE54-49EB1530F5A7}" presName="spaceRect" presStyleCnt="0"/>
      <dgm:spPr/>
    </dgm:pt>
    <dgm:pt modelId="{5E03E83B-F52A-42FA-9288-A11EF490CBC5}" type="pres">
      <dgm:prSet presAssocID="{75E57020-38BC-4C3C-AE54-49EB1530F5A7}" presName="parTx" presStyleLbl="revTx" presStyleIdx="0" presStyleCnt="4">
        <dgm:presLayoutVars>
          <dgm:chMax val="0"/>
          <dgm:chPref val="0"/>
        </dgm:presLayoutVars>
      </dgm:prSet>
      <dgm:spPr/>
    </dgm:pt>
    <dgm:pt modelId="{6644F73E-436C-4D83-A26D-3F15DB0C4A10}" type="pres">
      <dgm:prSet presAssocID="{C151D1C5-55F1-4919-8774-4DF7453A4DDC}" presName="sibTrans" presStyleCnt="0"/>
      <dgm:spPr/>
    </dgm:pt>
    <dgm:pt modelId="{DC0E3D16-9AB5-4348-9513-5D2B6D4BC185}" type="pres">
      <dgm:prSet presAssocID="{31CF9DA0-ACB7-4634-8359-7D5F8C6C73DA}" presName="compNode" presStyleCnt="0"/>
      <dgm:spPr/>
    </dgm:pt>
    <dgm:pt modelId="{82129080-62A8-4DAF-9BA5-D6EC23DE036B}" type="pres">
      <dgm:prSet presAssocID="{31CF9DA0-ACB7-4634-8359-7D5F8C6C73DA}" presName="bgRect" presStyleLbl="bgShp" presStyleIdx="1" presStyleCnt="4"/>
      <dgm:spPr/>
    </dgm:pt>
    <dgm:pt modelId="{D9D97BEE-13F2-45D6-99A7-B0AF50CFB841}" type="pres">
      <dgm:prSet presAssocID="{31CF9DA0-ACB7-4634-8359-7D5F8C6C73D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ploy"/>
        </a:ext>
      </dgm:extLst>
    </dgm:pt>
    <dgm:pt modelId="{0BFB5FF6-1C37-4197-8DCD-963426CEAE6C}" type="pres">
      <dgm:prSet presAssocID="{31CF9DA0-ACB7-4634-8359-7D5F8C6C73DA}" presName="spaceRect" presStyleCnt="0"/>
      <dgm:spPr/>
    </dgm:pt>
    <dgm:pt modelId="{F3E666E4-C23B-4B77-BB29-A73484499E93}" type="pres">
      <dgm:prSet presAssocID="{31CF9DA0-ACB7-4634-8359-7D5F8C6C73DA}" presName="parTx" presStyleLbl="revTx" presStyleIdx="1" presStyleCnt="4">
        <dgm:presLayoutVars>
          <dgm:chMax val="0"/>
          <dgm:chPref val="0"/>
        </dgm:presLayoutVars>
      </dgm:prSet>
      <dgm:spPr/>
    </dgm:pt>
    <dgm:pt modelId="{0316C071-C70A-456C-820C-FD28A765A6A8}" type="pres">
      <dgm:prSet presAssocID="{49151783-DCE3-4CEF-87BE-7258172E60B4}" presName="sibTrans" presStyleCnt="0"/>
      <dgm:spPr/>
    </dgm:pt>
    <dgm:pt modelId="{BF0DBDCD-3839-4FA4-A094-C47D58EBA3A2}" type="pres">
      <dgm:prSet presAssocID="{40FFF9D0-4D78-48CF-B3B4-EA9624D95B35}" presName="compNode" presStyleCnt="0"/>
      <dgm:spPr/>
    </dgm:pt>
    <dgm:pt modelId="{5E71D75B-EA41-494D-AC42-37E3E129BED6}" type="pres">
      <dgm:prSet presAssocID="{40FFF9D0-4D78-48CF-B3B4-EA9624D95B35}" presName="bgRect" presStyleLbl="bgShp" presStyleIdx="2" presStyleCnt="4"/>
      <dgm:spPr/>
    </dgm:pt>
    <dgm:pt modelId="{F8EE5CBA-D34C-4C4C-810C-D51FB5B15B8C}" type="pres">
      <dgm:prSet presAssocID="{40FFF9D0-4D78-48CF-B3B4-EA9624D95B3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1E5A4F3A-0F76-49A1-92D8-9E38991C0B30}" type="pres">
      <dgm:prSet presAssocID="{40FFF9D0-4D78-48CF-B3B4-EA9624D95B35}" presName="spaceRect" presStyleCnt="0"/>
      <dgm:spPr/>
    </dgm:pt>
    <dgm:pt modelId="{693C44C9-3A30-4C66-B1C8-6672A5B3F83A}" type="pres">
      <dgm:prSet presAssocID="{40FFF9D0-4D78-48CF-B3B4-EA9624D95B35}" presName="parTx" presStyleLbl="revTx" presStyleIdx="2" presStyleCnt="4">
        <dgm:presLayoutVars>
          <dgm:chMax val="0"/>
          <dgm:chPref val="0"/>
        </dgm:presLayoutVars>
      </dgm:prSet>
      <dgm:spPr/>
    </dgm:pt>
    <dgm:pt modelId="{5F038692-93B5-4F1F-BCAD-9AF20137FE66}" type="pres">
      <dgm:prSet presAssocID="{D54431D7-88FB-4C23-9864-648C52E49DAE}" presName="sibTrans" presStyleCnt="0"/>
      <dgm:spPr/>
    </dgm:pt>
    <dgm:pt modelId="{42FE2CD1-2A21-4FB2-9FE4-92980163AE25}" type="pres">
      <dgm:prSet presAssocID="{3A4149E6-809F-420F-9BE3-4FA2312106D5}" presName="compNode" presStyleCnt="0"/>
      <dgm:spPr/>
    </dgm:pt>
    <dgm:pt modelId="{E4A06934-DDC1-4780-A0A5-0317EDF5865E}" type="pres">
      <dgm:prSet presAssocID="{3A4149E6-809F-420F-9BE3-4FA2312106D5}" presName="bgRect" presStyleLbl="bgShp" presStyleIdx="3" presStyleCnt="4"/>
      <dgm:spPr/>
    </dgm:pt>
    <dgm:pt modelId="{55235A26-160A-4816-9351-88F888F59E04}" type="pres">
      <dgm:prSet presAssocID="{3A4149E6-809F-420F-9BE3-4FA2312106D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munications"/>
        </a:ext>
      </dgm:extLst>
    </dgm:pt>
    <dgm:pt modelId="{CE8AB472-4008-4E1B-AF02-C1E6910741B4}" type="pres">
      <dgm:prSet presAssocID="{3A4149E6-809F-420F-9BE3-4FA2312106D5}" presName="spaceRect" presStyleCnt="0"/>
      <dgm:spPr/>
    </dgm:pt>
    <dgm:pt modelId="{1659818F-20C1-4871-A1BE-AE215EF292B3}" type="pres">
      <dgm:prSet presAssocID="{3A4149E6-809F-420F-9BE3-4FA2312106D5}" presName="parTx" presStyleLbl="revTx" presStyleIdx="3" presStyleCnt="4">
        <dgm:presLayoutVars>
          <dgm:chMax val="0"/>
          <dgm:chPref val="0"/>
        </dgm:presLayoutVars>
      </dgm:prSet>
      <dgm:spPr/>
    </dgm:pt>
  </dgm:ptLst>
  <dgm:cxnLst>
    <dgm:cxn modelId="{298B2612-D21B-4859-AE07-785E2A19D455}" srcId="{BC463A38-41E3-4875-B5A2-1565B7A1E2DF}" destId="{31CF9DA0-ACB7-4634-8359-7D5F8C6C73DA}" srcOrd="1" destOrd="0" parTransId="{42DB7DD6-49B3-488B-9C83-793535F3DEFF}" sibTransId="{49151783-DCE3-4CEF-87BE-7258172E60B4}"/>
    <dgm:cxn modelId="{6D44214F-37B2-45AB-BF2D-BFD69668DD2B}" type="presOf" srcId="{BC463A38-41E3-4875-B5A2-1565B7A1E2DF}" destId="{146A01A1-D744-4CC9-9301-CACA27FB8F97}" srcOrd="0" destOrd="0" presId="urn:microsoft.com/office/officeart/2018/2/layout/IconVerticalSolidList"/>
    <dgm:cxn modelId="{7A549955-5B1E-4C93-80AB-946E25F1ED5B}" srcId="{BC463A38-41E3-4875-B5A2-1565B7A1E2DF}" destId="{40FFF9D0-4D78-48CF-B3B4-EA9624D95B35}" srcOrd="2" destOrd="0" parTransId="{6BDD0B0F-C11B-4242-8E35-A938F5BA16A9}" sibTransId="{D54431D7-88FB-4C23-9864-648C52E49DAE}"/>
    <dgm:cxn modelId="{8B5F9B80-4C95-4B67-AB2D-1D48E71A7C69}" type="presOf" srcId="{75E57020-38BC-4C3C-AE54-49EB1530F5A7}" destId="{5E03E83B-F52A-42FA-9288-A11EF490CBC5}" srcOrd="0" destOrd="0" presId="urn:microsoft.com/office/officeart/2018/2/layout/IconVerticalSolidList"/>
    <dgm:cxn modelId="{2C83238E-21CC-4D29-B291-66AEC00D934A}" type="presOf" srcId="{40FFF9D0-4D78-48CF-B3B4-EA9624D95B35}" destId="{693C44C9-3A30-4C66-B1C8-6672A5B3F83A}" srcOrd="0" destOrd="0" presId="urn:microsoft.com/office/officeart/2018/2/layout/IconVerticalSolidList"/>
    <dgm:cxn modelId="{B87AB1B4-3609-4FF7-96B8-E142577DF69D}" type="presOf" srcId="{3A4149E6-809F-420F-9BE3-4FA2312106D5}" destId="{1659818F-20C1-4871-A1BE-AE215EF292B3}" srcOrd="0" destOrd="0" presId="urn:microsoft.com/office/officeart/2018/2/layout/IconVerticalSolidList"/>
    <dgm:cxn modelId="{E30695BE-A40F-4CE9-ADAF-56BDD1747134}" srcId="{BC463A38-41E3-4875-B5A2-1565B7A1E2DF}" destId="{75E57020-38BC-4C3C-AE54-49EB1530F5A7}" srcOrd="0" destOrd="0" parTransId="{BB15F6A0-D335-4C0E-9DAA-BCFE46EA6E7B}" sibTransId="{C151D1C5-55F1-4919-8774-4DF7453A4DDC}"/>
    <dgm:cxn modelId="{A8DCA8E9-339A-450B-B9C2-A5731C276CA1}" type="presOf" srcId="{31CF9DA0-ACB7-4634-8359-7D5F8C6C73DA}" destId="{F3E666E4-C23B-4B77-BB29-A73484499E93}" srcOrd="0" destOrd="0" presId="urn:microsoft.com/office/officeart/2018/2/layout/IconVerticalSolidList"/>
    <dgm:cxn modelId="{3663D7F2-5410-4B08-AC21-380A1F458A1A}" srcId="{BC463A38-41E3-4875-B5A2-1565B7A1E2DF}" destId="{3A4149E6-809F-420F-9BE3-4FA2312106D5}" srcOrd="3" destOrd="0" parTransId="{B5092A24-B072-4378-B050-CB3FFEFC206E}" sibTransId="{AC0692BC-88E3-4157-8359-0C8390DA1E0B}"/>
    <dgm:cxn modelId="{2E64714D-FC9A-4DFA-8607-4A0DB6651E2B}" type="presParOf" srcId="{146A01A1-D744-4CC9-9301-CACA27FB8F97}" destId="{30021128-6EC6-45C1-A1DF-153757C899A3}" srcOrd="0" destOrd="0" presId="urn:microsoft.com/office/officeart/2018/2/layout/IconVerticalSolidList"/>
    <dgm:cxn modelId="{E15B2BEF-ABE5-46B3-A2BE-F7FDEC3E00B5}" type="presParOf" srcId="{30021128-6EC6-45C1-A1DF-153757C899A3}" destId="{3FD2A80D-E0BC-4805-80E3-732D0D99C349}" srcOrd="0" destOrd="0" presId="urn:microsoft.com/office/officeart/2018/2/layout/IconVerticalSolidList"/>
    <dgm:cxn modelId="{2819ECEF-32FB-4BC5-8E14-81D07D664A14}" type="presParOf" srcId="{30021128-6EC6-45C1-A1DF-153757C899A3}" destId="{16275065-8276-4DE2-A59D-7FAE058FCBC6}" srcOrd="1" destOrd="0" presId="urn:microsoft.com/office/officeart/2018/2/layout/IconVerticalSolidList"/>
    <dgm:cxn modelId="{E2AD4D39-9EE0-490F-B15B-82CB432AEE37}" type="presParOf" srcId="{30021128-6EC6-45C1-A1DF-153757C899A3}" destId="{F2532F0B-01F0-44CC-89AE-154FD832BB0D}" srcOrd="2" destOrd="0" presId="urn:microsoft.com/office/officeart/2018/2/layout/IconVerticalSolidList"/>
    <dgm:cxn modelId="{A855E335-0DB8-4E37-9911-9AC77C69233B}" type="presParOf" srcId="{30021128-6EC6-45C1-A1DF-153757C899A3}" destId="{5E03E83B-F52A-42FA-9288-A11EF490CBC5}" srcOrd="3" destOrd="0" presId="urn:microsoft.com/office/officeart/2018/2/layout/IconVerticalSolidList"/>
    <dgm:cxn modelId="{E750A7E1-2D7C-4A9A-932F-52552C9DB35D}" type="presParOf" srcId="{146A01A1-D744-4CC9-9301-CACA27FB8F97}" destId="{6644F73E-436C-4D83-A26D-3F15DB0C4A10}" srcOrd="1" destOrd="0" presId="urn:microsoft.com/office/officeart/2018/2/layout/IconVerticalSolidList"/>
    <dgm:cxn modelId="{754DE110-8CFD-416C-8395-88EAC443FBD3}" type="presParOf" srcId="{146A01A1-D744-4CC9-9301-CACA27FB8F97}" destId="{DC0E3D16-9AB5-4348-9513-5D2B6D4BC185}" srcOrd="2" destOrd="0" presId="urn:microsoft.com/office/officeart/2018/2/layout/IconVerticalSolidList"/>
    <dgm:cxn modelId="{C23E5D00-BC31-4B6B-8016-E9A8254E13D8}" type="presParOf" srcId="{DC0E3D16-9AB5-4348-9513-5D2B6D4BC185}" destId="{82129080-62A8-4DAF-9BA5-D6EC23DE036B}" srcOrd="0" destOrd="0" presId="urn:microsoft.com/office/officeart/2018/2/layout/IconVerticalSolidList"/>
    <dgm:cxn modelId="{12D9AA76-A728-4C05-8A83-77ABF3E5935F}" type="presParOf" srcId="{DC0E3D16-9AB5-4348-9513-5D2B6D4BC185}" destId="{D9D97BEE-13F2-45D6-99A7-B0AF50CFB841}" srcOrd="1" destOrd="0" presId="urn:microsoft.com/office/officeart/2018/2/layout/IconVerticalSolidList"/>
    <dgm:cxn modelId="{01D8CE80-E41E-45BB-8309-9F6E5D4A7C25}" type="presParOf" srcId="{DC0E3D16-9AB5-4348-9513-5D2B6D4BC185}" destId="{0BFB5FF6-1C37-4197-8DCD-963426CEAE6C}" srcOrd="2" destOrd="0" presId="urn:microsoft.com/office/officeart/2018/2/layout/IconVerticalSolidList"/>
    <dgm:cxn modelId="{2CBD51C1-6897-4697-936A-43B31DC6E7B5}" type="presParOf" srcId="{DC0E3D16-9AB5-4348-9513-5D2B6D4BC185}" destId="{F3E666E4-C23B-4B77-BB29-A73484499E93}" srcOrd="3" destOrd="0" presId="urn:microsoft.com/office/officeart/2018/2/layout/IconVerticalSolidList"/>
    <dgm:cxn modelId="{66756A7F-3C80-4D55-B873-2C9DCEE5332F}" type="presParOf" srcId="{146A01A1-D744-4CC9-9301-CACA27FB8F97}" destId="{0316C071-C70A-456C-820C-FD28A765A6A8}" srcOrd="3" destOrd="0" presId="urn:microsoft.com/office/officeart/2018/2/layout/IconVerticalSolidList"/>
    <dgm:cxn modelId="{24783F09-66F9-4103-B4F7-BFC80AE98B5B}" type="presParOf" srcId="{146A01A1-D744-4CC9-9301-CACA27FB8F97}" destId="{BF0DBDCD-3839-4FA4-A094-C47D58EBA3A2}" srcOrd="4" destOrd="0" presId="urn:microsoft.com/office/officeart/2018/2/layout/IconVerticalSolidList"/>
    <dgm:cxn modelId="{384D7A70-D570-432A-BA26-143E8398AF97}" type="presParOf" srcId="{BF0DBDCD-3839-4FA4-A094-C47D58EBA3A2}" destId="{5E71D75B-EA41-494D-AC42-37E3E129BED6}" srcOrd="0" destOrd="0" presId="urn:microsoft.com/office/officeart/2018/2/layout/IconVerticalSolidList"/>
    <dgm:cxn modelId="{F214A4DD-004F-4B0D-9C5A-49A60B771DBF}" type="presParOf" srcId="{BF0DBDCD-3839-4FA4-A094-C47D58EBA3A2}" destId="{F8EE5CBA-D34C-4C4C-810C-D51FB5B15B8C}" srcOrd="1" destOrd="0" presId="urn:microsoft.com/office/officeart/2018/2/layout/IconVerticalSolidList"/>
    <dgm:cxn modelId="{FA71E3C7-8ECA-4C7F-9151-8D869A239C85}" type="presParOf" srcId="{BF0DBDCD-3839-4FA4-A094-C47D58EBA3A2}" destId="{1E5A4F3A-0F76-49A1-92D8-9E38991C0B30}" srcOrd="2" destOrd="0" presId="urn:microsoft.com/office/officeart/2018/2/layout/IconVerticalSolidList"/>
    <dgm:cxn modelId="{314023A1-4F05-49D1-9DC5-C69450495BC3}" type="presParOf" srcId="{BF0DBDCD-3839-4FA4-A094-C47D58EBA3A2}" destId="{693C44C9-3A30-4C66-B1C8-6672A5B3F83A}" srcOrd="3" destOrd="0" presId="urn:microsoft.com/office/officeart/2018/2/layout/IconVerticalSolidList"/>
    <dgm:cxn modelId="{1BDFDBF5-53E0-49AB-9808-09CAEED6E9DC}" type="presParOf" srcId="{146A01A1-D744-4CC9-9301-CACA27FB8F97}" destId="{5F038692-93B5-4F1F-BCAD-9AF20137FE66}" srcOrd="5" destOrd="0" presId="urn:microsoft.com/office/officeart/2018/2/layout/IconVerticalSolidList"/>
    <dgm:cxn modelId="{1DFEDE3F-D6EF-4625-ABE0-9241E639FA52}" type="presParOf" srcId="{146A01A1-D744-4CC9-9301-CACA27FB8F97}" destId="{42FE2CD1-2A21-4FB2-9FE4-92980163AE25}" srcOrd="6" destOrd="0" presId="urn:microsoft.com/office/officeart/2018/2/layout/IconVerticalSolidList"/>
    <dgm:cxn modelId="{D850AEB2-151D-4796-8EAE-BCAFAA5CCDAE}" type="presParOf" srcId="{42FE2CD1-2A21-4FB2-9FE4-92980163AE25}" destId="{E4A06934-DDC1-4780-A0A5-0317EDF5865E}" srcOrd="0" destOrd="0" presId="urn:microsoft.com/office/officeart/2018/2/layout/IconVerticalSolidList"/>
    <dgm:cxn modelId="{44EB4C52-89E6-43C7-9C94-32678653F3C7}" type="presParOf" srcId="{42FE2CD1-2A21-4FB2-9FE4-92980163AE25}" destId="{55235A26-160A-4816-9351-88F888F59E04}" srcOrd="1" destOrd="0" presId="urn:microsoft.com/office/officeart/2018/2/layout/IconVerticalSolidList"/>
    <dgm:cxn modelId="{26FFC967-45BA-493B-B168-AFE47F838278}" type="presParOf" srcId="{42FE2CD1-2A21-4FB2-9FE4-92980163AE25}" destId="{CE8AB472-4008-4E1B-AF02-C1E6910741B4}" srcOrd="2" destOrd="0" presId="urn:microsoft.com/office/officeart/2018/2/layout/IconVerticalSolidList"/>
    <dgm:cxn modelId="{F2AF4FB9-2666-4CAE-B8A7-0A95FF5FAE27}" type="presParOf" srcId="{42FE2CD1-2A21-4FB2-9FE4-92980163AE25}" destId="{1659818F-20C1-4871-A1BE-AE215EF292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F368EC-576C-48C4-997C-BC92837B26D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9182AD5-5D80-4D70-918A-5A3D5432306A}">
      <dgm:prSet/>
      <dgm:spPr/>
      <dgm:t>
        <a:bodyPr/>
        <a:lstStyle/>
        <a:p>
          <a:r>
            <a:rPr lang="en-GB"/>
            <a:t>Cluster membership is the strongest predictor of arrears risk.</a:t>
          </a:r>
          <a:endParaRPr lang="en-US"/>
        </a:p>
      </dgm:t>
    </dgm:pt>
    <dgm:pt modelId="{1D1D1B32-BC87-41ED-81A0-639685596975}" type="parTrans" cxnId="{D0EB489D-11CD-4A0F-9457-61849DE34FBC}">
      <dgm:prSet/>
      <dgm:spPr/>
      <dgm:t>
        <a:bodyPr/>
        <a:lstStyle/>
        <a:p>
          <a:endParaRPr lang="en-US"/>
        </a:p>
      </dgm:t>
    </dgm:pt>
    <dgm:pt modelId="{81BDB520-E1CE-44FF-9B99-F3D42D87703F}" type="sibTrans" cxnId="{D0EB489D-11CD-4A0F-9457-61849DE34FBC}">
      <dgm:prSet/>
      <dgm:spPr/>
      <dgm:t>
        <a:bodyPr/>
        <a:lstStyle/>
        <a:p>
          <a:endParaRPr lang="en-US"/>
        </a:p>
      </dgm:t>
    </dgm:pt>
    <dgm:pt modelId="{0AC9B0DC-BE8F-41A5-BCDF-6F9C782E29FC}">
      <dgm:prSet/>
      <dgm:spPr/>
      <dgm:t>
        <a:bodyPr/>
        <a:lstStyle/>
        <a:p>
          <a:r>
            <a:rPr lang="en-GB"/>
            <a:t>Customers in cluster 2 are ~85% less likely to fall into arrears than cluster 1.</a:t>
          </a:r>
          <a:endParaRPr lang="en-US"/>
        </a:p>
      </dgm:t>
    </dgm:pt>
    <dgm:pt modelId="{2C115DFB-38B9-461B-9F7F-B48470EC9D12}" type="parTrans" cxnId="{9311FE2D-A575-4F36-A84E-16C83BDA3C27}">
      <dgm:prSet/>
      <dgm:spPr/>
      <dgm:t>
        <a:bodyPr/>
        <a:lstStyle/>
        <a:p>
          <a:endParaRPr lang="en-US"/>
        </a:p>
      </dgm:t>
    </dgm:pt>
    <dgm:pt modelId="{558782FE-99E7-43A9-B8C9-D19F27204884}" type="sibTrans" cxnId="{9311FE2D-A575-4F36-A84E-16C83BDA3C27}">
      <dgm:prSet/>
      <dgm:spPr/>
      <dgm:t>
        <a:bodyPr/>
        <a:lstStyle/>
        <a:p>
          <a:endParaRPr lang="en-US"/>
        </a:p>
      </dgm:t>
    </dgm:pt>
    <dgm:pt modelId="{65AF8C2D-4FF8-49BD-8A8D-579B6C825724}">
      <dgm:prSet/>
      <dgm:spPr/>
      <dgm:t>
        <a:bodyPr/>
        <a:lstStyle/>
        <a:p>
          <a:r>
            <a:rPr lang="en-GB"/>
            <a:t>Geographic location and customer type do not significantly influence arrears risk</a:t>
          </a:r>
          <a:endParaRPr lang="en-US"/>
        </a:p>
      </dgm:t>
    </dgm:pt>
    <dgm:pt modelId="{1009C9EA-A8CB-4870-8E0E-9A9C239D8D87}" type="parTrans" cxnId="{394C330C-0859-46A0-B108-AE55B8BA6C32}">
      <dgm:prSet/>
      <dgm:spPr/>
      <dgm:t>
        <a:bodyPr/>
        <a:lstStyle/>
        <a:p>
          <a:endParaRPr lang="en-US"/>
        </a:p>
      </dgm:t>
    </dgm:pt>
    <dgm:pt modelId="{3854ECBA-A442-44A6-BE3F-B52E2AE68533}" type="sibTrans" cxnId="{394C330C-0859-46A0-B108-AE55B8BA6C32}">
      <dgm:prSet/>
      <dgm:spPr/>
      <dgm:t>
        <a:bodyPr/>
        <a:lstStyle/>
        <a:p>
          <a:endParaRPr lang="en-US"/>
        </a:p>
      </dgm:t>
    </dgm:pt>
    <dgm:pt modelId="{945AC6B4-1ACE-46C3-A7E6-1CE58D35F7AB}" type="pres">
      <dgm:prSet presAssocID="{8CF368EC-576C-48C4-997C-BC92837B26DD}" presName="linear" presStyleCnt="0">
        <dgm:presLayoutVars>
          <dgm:animLvl val="lvl"/>
          <dgm:resizeHandles val="exact"/>
        </dgm:presLayoutVars>
      </dgm:prSet>
      <dgm:spPr/>
    </dgm:pt>
    <dgm:pt modelId="{DE7A2742-7A4F-4161-859C-E9C4897EAA68}" type="pres">
      <dgm:prSet presAssocID="{09182AD5-5D80-4D70-918A-5A3D5432306A}" presName="parentText" presStyleLbl="node1" presStyleIdx="0" presStyleCnt="3">
        <dgm:presLayoutVars>
          <dgm:chMax val="0"/>
          <dgm:bulletEnabled val="1"/>
        </dgm:presLayoutVars>
      </dgm:prSet>
      <dgm:spPr/>
    </dgm:pt>
    <dgm:pt modelId="{C9978744-5E46-4133-96F8-5277BBB12652}" type="pres">
      <dgm:prSet presAssocID="{81BDB520-E1CE-44FF-9B99-F3D42D87703F}" presName="spacer" presStyleCnt="0"/>
      <dgm:spPr/>
    </dgm:pt>
    <dgm:pt modelId="{A609DF90-7FEB-41D7-AE23-19747E056D81}" type="pres">
      <dgm:prSet presAssocID="{0AC9B0DC-BE8F-41A5-BCDF-6F9C782E29FC}" presName="parentText" presStyleLbl="node1" presStyleIdx="1" presStyleCnt="3">
        <dgm:presLayoutVars>
          <dgm:chMax val="0"/>
          <dgm:bulletEnabled val="1"/>
        </dgm:presLayoutVars>
      </dgm:prSet>
      <dgm:spPr/>
    </dgm:pt>
    <dgm:pt modelId="{D91657BF-F920-45DC-B638-6041725D9D45}" type="pres">
      <dgm:prSet presAssocID="{558782FE-99E7-43A9-B8C9-D19F27204884}" presName="spacer" presStyleCnt="0"/>
      <dgm:spPr/>
    </dgm:pt>
    <dgm:pt modelId="{273E92CE-2BEB-43D4-A9AF-CFB81F382A38}" type="pres">
      <dgm:prSet presAssocID="{65AF8C2D-4FF8-49BD-8A8D-579B6C825724}" presName="parentText" presStyleLbl="node1" presStyleIdx="2" presStyleCnt="3">
        <dgm:presLayoutVars>
          <dgm:chMax val="0"/>
          <dgm:bulletEnabled val="1"/>
        </dgm:presLayoutVars>
      </dgm:prSet>
      <dgm:spPr/>
    </dgm:pt>
  </dgm:ptLst>
  <dgm:cxnLst>
    <dgm:cxn modelId="{394C330C-0859-46A0-B108-AE55B8BA6C32}" srcId="{8CF368EC-576C-48C4-997C-BC92837B26DD}" destId="{65AF8C2D-4FF8-49BD-8A8D-579B6C825724}" srcOrd="2" destOrd="0" parTransId="{1009C9EA-A8CB-4870-8E0E-9A9C239D8D87}" sibTransId="{3854ECBA-A442-44A6-BE3F-B52E2AE68533}"/>
    <dgm:cxn modelId="{E4194A27-6BD6-44AF-9E5D-C03783036D63}" type="presOf" srcId="{8CF368EC-576C-48C4-997C-BC92837B26DD}" destId="{945AC6B4-1ACE-46C3-A7E6-1CE58D35F7AB}" srcOrd="0" destOrd="0" presId="urn:microsoft.com/office/officeart/2005/8/layout/vList2"/>
    <dgm:cxn modelId="{9311FE2D-A575-4F36-A84E-16C83BDA3C27}" srcId="{8CF368EC-576C-48C4-997C-BC92837B26DD}" destId="{0AC9B0DC-BE8F-41A5-BCDF-6F9C782E29FC}" srcOrd="1" destOrd="0" parTransId="{2C115DFB-38B9-461B-9F7F-B48470EC9D12}" sibTransId="{558782FE-99E7-43A9-B8C9-D19F27204884}"/>
    <dgm:cxn modelId="{1BDD3C43-3AC0-4D48-97F7-0B70F8C61854}" type="presOf" srcId="{65AF8C2D-4FF8-49BD-8A8D-579B6C825724}" destId="{273E92CE-2BEB-43D4-A9AF-CFB81F382A38}" srcOrd="0" destOrd="0" presId="urn:microsoft.com/office/officeart/2005/8/layout/vList2"/>
    <dgm:cxn modelId="{98B22A75-308E-40DA-A217-7AA8948C6C42}" type="presOf" srcId="{09182AD5-5D80-4D70-918A-5A3D5432306A}" destId="{DE7A2742-7A4F-4161-859C-E9C4897EAA68}" srcOrd="0" destOrd="0" presId="urn:microsoft.com/office/officeart/2005/8/layout/vList2"/>
    <dgm:cxn modelId="{D0EB489D-11CD-4A0F-9457-61849DE34FBC}" srcId="{8CF368EC-576C-48C4-997C-BC92837B26DD}" destId="{09182AD5-5D80-4D70-918A-5A3D5432306A}" srcOrd="0" destOrd="0" parTransId="{1D1D1B32-BC87-41ED-81A0-639685596975}" sibTransId="{81BDB520-E1CE-44FF-9B99-F3D42D87703F}"/>
    <dgm:cxn modelId="{407FEEA6-0BB7-4664-AB7A-ABE855F5270E}" type="presOf" srcId="{0AC9B0DC-BE8F-41A5-BCDF-6F9C782E29FC}" destId="{A609DF90-7FEB-41D7-AE23-19747E056D81}" srcOrd="0" destOrd="0" presId="urn:microsoft.com/office/officeart/2005/8/layout/vList2"/>
    <dgm:cxn modelId="{C2BAB7F5-0F91-4DBF-AB51-4A947FB55B0C}" type="presParOf" srcId="{945AC6B4-1ACE-46C3-A7E6-1CE58D35F7AB}" destId="{DE7A2742-7A4F-4161-859C-E9C4897EAA68}" srcOrd="0" destOrd="0" presId="urn:microsoft.com/office/officeart/2005/8/layout/vList2"/>
    <dgm:cxn modelId="{6A401AF3-5F08-409F-A359-A75F63DD3AFC}" type="presParOf" srcId="{945AC6B4-1ACE-46C3-A7E6-1CE58D35F7AB}" destId="{C9978744-5E46-4133-96F8-5277BBB12652}" srcOrd="1" destOrd="0" presId="urn:microsoft.com/office/officeart/2005/8/layout/vList2"/>
    <dgm:cxn modelId="{50D7281D-2C06-44EA-BD0A-ADA5087ABEEA}" type="presParOf" srcId="{945AC6B4-1ACE-46C3-A7E6-1CE58D35F7AB}" destId="{A609DF90-7FEB-41D7-AE23-19747E056D81}" srcOrd="2" destOrd="0" presId="urn:microsoft.com/office/officeart/2005/8/layout/vList2"/>
    <dgm:cxn modelId="{EC2048B7-772D-4D1F-B317-14D29946C4A1}" type="presParOf" srcId="{945AC6B4-1ACE-46C3-A7E6-1CE58D35F7AB}" destId="{D91657BF-F920-45DC-B638-6041725D9D45}" srcOrd="3" destOrd="0" presId="urn:microsoft.com/office/officeart/2005/8/layout/vList2"/>
    <dgm:cxn modelId="{CB5327B0-B25C-45A4-83E9-0C41644C9841}" type="presParOf" srcId="{945AC6B4-1ACE-46C3-A7E6-1CE58D35F7AB}" destId="{273E92CE-2BEB-43D4-A9AF-CFB81F382A3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D2A80D-E0BC-4805-80E3-732D0D99C349}">
      <dsp:nvSpPr>
        <dsp:cNvPr id="0" name=""/>
        <dsp:cNvSpPr/>
      </dsp:nvSpPr>
      <dsp:spPr>
        <a:xfrm>
          <a:off x="0" y="2042"/>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275065-8276-4DE2-A59D-7FAE058FCBC6}">
      <dsp:nvSpPr>
        <dsp:cNvPr id="0" name=""/>
        <dsp:cNvSpPr/>
      </dsp:nvSpPr>
      <dsp:spPr>
        <a:xfrm>
          <a:off x="313145" y="234960"/>
          <a:ext cx="569355" cy="569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03E83B-F52A-42FA-9288-A11EF490CBC5}">
      <dsp:nvSpPr>
        <dsp:cNvPr id="0" name=""/>
        <dsp:cNvSpPr/>
      </dsp:nvSpPr>
      <dsp:spPr>
        <a:xfrm>
          <a:off x="1195647" y="2042"/>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90000"/>
            </a:lnSpc>
            <a:spcBef>
              <a:spcPct val="0"/>
            </a:spcBef>
            <a:spcAft>
              <a:spcPct val="35000"/>
            </a:spcAft>
            <a:buNone/>
          </a:pPr>
          <a:r>
            <a:rPr lang="en-GB" sz="2200" kern="1200"/>
            <a:t>Background</a:t>
          </a:r>
          <a:endParaRPr lang="en-US" sz="2200" kern="1200"/>
        </a:p>
      </dsp:txBody>
      <dsp:txXfrm>
        <a:off x="1195647" y="2042"/>
        <a:ext cx="3035833" cy="1035192"/>
      </dsp:txXfrm>
    </dsp:sp>
    <dsp:sp modelId="{82129080-62A8-4DAF-9BA5-D6EC23DE036B}">
      <dsp:nvSpPr>
        <dsp:cNvPr id="0" name=""/>
        <dsp:cNvSpPr/>
      </dsp:nvSpPr>
      <dsp:spPr>
        <a:xfrm>
          <a:off x="0" y="1296033"/>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D97BEE-13F2-45D6-99A7-B0AF50CFB841}">
      <dsp:nvSpPr>
        <dsp:cNvPr id="0" name=""/>
        <dsp:cNvSpPr/>
      </dsp:nvSpPr>
      <dsp:spPr>
        <a:xfrm>
          <a:off x="313145" y="1528951"/>
          <a:ext cx="569355" cy="569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E666E4-C23B-4B77-BB29-A73484499E93}">
      <dsp:nvSpPr>
        <dsp:cNvPr id="0" name=""/>
        <dsp:cNvSpPr/>
      </dsp:nvSpPr>
      <dsp:spPr>
        <a:xfrm>
          <a:off x="1195647" y="1296033"/>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90000"/>
            </a:lnSpc>
            <a:spcBef>
              <a:spcPct val="0"/>
            </a:spcBef>
            <a:spcAft>
              <a:spcPct val="35000"/>
            </a:spcAft>
            <a:buNone/>
          </a:pPr>
          <a:r>
            <a:rPr lang="en-GB" sz="2200" kern="1200"/>
            <a:t>Executive Summary</a:t>
          </a:r>
          <a:endParaRPr lang="en-US" sz="2200" kern="1200"/>
        </a:p>
      </dsp:txBody>
      <dsp:txXfrm>
        <a:off x="1195647" y="1296033"/>
        <a:ext cx="3035833" cy="1035192"/>
      </dsp:txXfrm>
    </dsp:sp>
    <dsp:sp modelId="{5E71D75B-EA41-494D-AC42-37E3E129BED6}">
      <dsp:nvSpPr>
        <dsp:cNvPr id="0" name=""/>
        <dsp:cNvSpPr/>
      </dsp:nvSpPr>
      <dsp:spPr>
        <a:xfrm>
          <a:off x="0" y="2590024"/>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EE5CBA-D34C-4C4C-810C-D51FB5B15B8C}">
      <dsp:nvSpPr>
        <dsp:cNvPr id="0" name=""/>
        <dsp:cNvSpPr/>
      </dsp:nvSpPr>
      <dsp:spPr>
        <a:xfrm>
          <a:off x="313145" y="2822942"/>
          <a:ext cx="569355" cy="5693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3C44C9-3A30-4C66-B1C8-6672A5B3F83A}">
      <dsp:nvSpPr>
        <dsp:cNvPr id="0" name=""/>
        <dsp:cNvSpPr/>
      </dsp:nvSpPr>
      <dsp:spPr>
        <a:xfrm>
          <a:off x="1195647" y="2590024"/>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90000"/>
            </a:lnSpc>
            <a:spcBef>
              <a:spcPct val="0"/>
            </a:spcBef>
            <a:spcAft>
              <a:spcPct val="35000"/>
            </a:spcAft>
            <a:buNone/>
          </a:pPr>
          <a:r>
            <a:rPr lang="en-GB" sz="2200" kern="1200"/>
            <a:t>Key Findings</a:t>
          </a:r>
          <a:endParaRPr lang="en-US" sz="2200" kern="1200"/>
        </a:p>
      </dsp:txBody>
      <dsp:txXfrm>
        <a:off x="1195647" y="2590024"/>
        <a:ext cx="3035833" cy="1035192"/>
      </dsp:txXfrm>
    </dsp:sp>
    <dsp:sp modelId="{E4A06934-DDC1-4780-A0A5-0317EDF5865E}">
      <dsp:nvSpPr>
        <dsp:cNvPr id="0" name=""/>
        <dsp:cNvSpPr/>
      </dsp:nvSpPr>
      <dsp:spPr>
        <a:xfrm>
          <a:off x="0" y="3884014"/>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235A26-160A-4816-9351-88F888F59E04}">
      <dsp:nvSpPr>
        <dsp:cNvPr id="0" name=""/>
        <dsp:cNvSpPr/>
      </dsp:nvSpPr>
      <dsp:spPr>
        <a:xfrm>
          <a:off x="313145" y="4116933"/>
          <a:ext cx="569355" cy="5693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59818F-20C1-4871-A1BE-AE215EF292B3}">
      <dsp:nvSpPr>
        <dsp:cNvPr id="0" name=""/>
        <dsp:cNvSpPr/>
      </dsp:nvSpPr>
      <dsp:spPr>
        <a:xfrm>
          <a:off x="1195647" y="3884014"/>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77900">
            <a:lnSpc>
              <a:spcPct val="90000"/>
            </a:lnSpc>
            <a:spcBef>
              <a:spcPct val="0"/>
            </a:spcBef>
            <a:spcAft>
              <a:spcPct val="35000"/>
            </a:spcAft>
            <a:buNone/>
          </a:pPr>
          <a:r>
            <a:rPr lang="en-GB" sz="2200" kern="1200"/>
            <a:t>Conclusions</a:t>
          </a:r>
          <a:endParaRPr lang="en-US" sz="2200" kern="1200"/>
        </a:p>
      </dsp:txBody>
      <dsp:txXfrm>
        <a:off x="1195647" y="3884014"/>
        <a:ext cx="3035833" cy="1035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A2742-7A4F-4161-859C-E9C4897EAA68}">
      <dsp:nvSpPr>
        <dsp:cNvPr id="0" name=""/>
        <dsp:cNvSpPr/>
      </dsp:nvSpPr>
      <dsp:spPr>
        <a:xfrm>
          <a:off x="0" y="70956"/>
          <a:ext cx="4231481" cy="1547032"/>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Cluster membership is the strongest predictor of arrears risk.</a:t>
          </a:r>
          <a:endParaRPr lang="en-US" sz="2400" kern="1200"/>
        </a:p>
      </dsp:txBody>
      <dsp:txXfrm>
        <a:off x="75520" y="146476"/>
        <a:ext cx="4080441" cy="1395992"/>
      </dsp:txXfrm>
    </dsp:sp>
    <dsp:sp modelId="{A609DF90-7FEB-41D7-AE23-19747E056D81}">
      <dsp:nvSpPr>
        <dsp:cNvPr id="0" name=""/>
        <dsp:cNvSpPr/>
      </dsp:nvSpPr>
      <dsp:spPr>
        <a:xfrm>
          <a:off x="0" y="1687108"/>
          <a:ext cx="4231481" cy="1547032"/>
        </a:xfrm>
        <a:prstGeom prst="round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Customers in cluster 2 are ~85% less likely to fall into arrears than cluster 1.</a:t>
          </a:r>
          <a:endParaRPr lang="en-US" sz="2400" kern="1200"/>
        </a:p>
      </dsp:txBody>
      <dsp:txXfrm>
        <a:off x="75520" y="1762628"/>
        <a:ext cx="4080441" cy="1395992"/>
      </dsp:txXfrm>
    </dsp:sp>
    <dsp:sp modelId="{273E92CE-2BEB-43D4-A9AF-CFB81F382A38}">
      <dsp:nvSpPr>
        <dsp:cNvPr id="0" name=""/>
        <dsp:cNvSpPr/>
      </dsp:nvSpPr>
      <dsp:spPr>
        <a:xfrm>
          <a:off x="0" y="3303261"/>
          <a:ext cx="4231481" cy="1547032"/>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kern="1200"/>
            <a:t>Geographic location and customer type do not significantly influence arrears risk</a:t>
          </a:r>
          <a:endParaRPr lang="en-US" sz="2400" kern="1200"/>
        </a:p>
      </dsp:txBody>
      <dsp:txXfrm>
        <a:off x="75520" y="3378781"/>
        <a:ext cx="4080441" cy="13959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4576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294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0996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5929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1127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8342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341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9592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6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6662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532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773007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14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5707" y="640080"/>
            <a:ext cx="3156492" cy="3034857"/>
          </a:xfrm>
        </p:spPr>
        <p:txBody>
          <a:bodyPr vert="horz" lIns="91440" tIns="45720" rIns="91440" bIns="45720" rtlCol="0" anchor="b">
            <a:normAutofit/>
          </a:bodyPr>
          <a:lstStyle/>
          <a:p>
            <a:r>
              <a:rPr lang="en-US" sz="3800" spc="100">
                <a:solidFill>
                  <a:srgbClr val="FFFFFF"/>
                </a:solidFill>
              </a:rPr>
              <a:t>Water Consumption and Revenue Insights Report</a:t>
            </a:r>
          </a:p>
        </p:txBody>
      </p:sp>
      <p:sp>
        <p:nvSpPr>
          <p:cNvPr id="3" name="Subtitle 2"/>
          <p:cNvSpPr>
            <a:spLocks noGrp="1"/>
          </p:cNvSpPr>
          <p:nvPr>
            <p:ph type="subTitle" idx="1"/>
          </p:nvPr>
        </p:nvSpPr>
        <p:spPr>
          <a:xfrm>
            <a:off x="479190" y="3849539"/>
            <a:ext cx="3153009" cy="2359417"/>
          </a:xfrm>
        </p:spPr>
        <p:txBody>
          <a:bodyPr vert="horz" lIns="45720" tIns="45720" rIns="45720" bIns="45720" rtlCol="0" anchor="t">
            <a:normAutofit/>
          </a:bodyPr>
          <a:lstStyle/>
          <a:p>
            <a:pPr indent="-228600" algn="r">
              <a:buFont typeface="Arial" panose="020B0604020202020204" pitchFamily="34" charset="0"/>
              <a:buChar char="•"/>
            </a:pPr>
            <a:r>
              <a:rPr lang="en-US" sz="1400">
                <a:solidFill>
                  <a:srgbClr val="FFFFFF"/>
                </a:solidFill>
              </a:rPr>
              <a:t>Budalangi Water Data – 2024</a:t>
            </a:r>
          </a:p>
          <a:p>
            <a:pPr indent="-228600" algn="r">
              <a:buFont typeface="Arial" panose="020B0604020202020204" pitchFamily="34" charset="0"/>
              <a:buChar char="•"/>
            </a:pPr>
            <a:r>
              <a:rPr lang="en-US" sz="1400">
                <a:solidFill>
                  <a:srgbClr val="FFFFFF"/>
                </a:solidFill>
              </a:rPr>
              <a:t>Prepared by: Christine Karani</a:t>
            </a:r>
          </a:p>
          <a:p>
            <a:pPr indent="-228600" algn="r">
              <a:buFont typeface="Arial" panose="020B0604020202020204" pitchFamily="34" charset="0"/>
              <a:buChar char="•"/>
            </a:pPr>
            <a:r>
              <a:rPr lang="en-US" sz="1400">
                <a:solidFill>
                  <a:srgbClr val="FFFFFF"/>
                </a:solidFill>
              </a:rPr>
              <a:t>16</a:t>
            </a:r>
            <a:r>
              <a:rPr lang="en-US" sz="1400" baseline="30000">
                <a:solidFill>
                  <a:srgbClr val="FFFFFF"/>
                </a:solidFill>
              </a:rPr>
              <a:t>th</a:t>
            </a:r>
            <a:r>
              <a:rPr lang="en-US" sz="1400">
                <a:solidFill>
                  <a:srgbClr val="FFFFFF"/>
                </a:solidFill>
              </a:rPr>
              <a:t> December 2025</a:t>
            </a:r>
          </a:p>
          <a:p>
            <a:pPr indent="-228600" algn="r">
              <a:buFont typeface="Arial" panose="020B0604020202020204" pitchFamily="34" charset="0"/>
              <a:buChar char="•"/>
            </a:pPr>
            <a:endParaRPr lang="en-US" sz="1400">
              <a:solidFill>
                <a:srgbClr val="FFFFFF"/>
              </a:solidFill>
            </a:endParaRPr>
          </a:p>
        </p:txBody>
      </p:sp>
      <p:cxnSp>
        <p:nvCxnSpPr>
          <p:cNvPr id="44" name="Straight Connector 43">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009" y="3765314"/>
            <a:ext cx="294894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20" name="Graphic 19" descr="Water">
            <a:extLst>
              <a:ext uri="{FF2B5EF4-FFF2-40B4-BE49-F238E27FC236}">
                <a16:creationId xmlns:a16="http://schemas.microsoft.com/office/drawing/2014/main" id="{F71012CF-9987-3E07-30D3-828D1EFE87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382187"/>
            <a:ext cx="4094602" cy="40946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FDC9F6-AF19-BE96-C5F3-AAF11C6D1C0C}"/>
              </a:ext>
            </a:extLst>
          </p:cNvPr>
          <p:cNvSpPr>
            <a:spLocks noGrp="1"/>
          </p:cNvSpPr>
          <p:nvPr>
            <p:ph type="title"/>
          </p:nvPr>
        </p:nvSpPr>
        <p:spPr>
          <a:xfrm>
            <a:off x="482601" y="643467"/>
            <a:ext cx="2561709" cy="5571066"/>
          </a:xfrm>
        </p:spPr>
        <p:txBody>
          <a:bodyPr>
            <a:normAutofit/>
          </a:bodyPr>
          <a:lstStyle/>
          <a:p>
            <a:r>
              <a:rPr lang="en-GB">
                <a:solidFill>
                  <a:srgbClr val="FFFFFF"/>
                </a:solidFill>
              </a:rPr>
              <a:t>Contents</a:t>
            </a:r>
            <a:endParaRPr lang="en-KE">
              <a:solidFill>
                <a:srgbClr val="FFFFFF"/>
              </a:solidFill>
            </a:endParaRPr>
          </a:p>
        </p:txBody>
      </p:sp>
      <p:graphicFrame>
        <p:nvGraphicFramePr>
          <p:cNvPr id="5" name="Content Placeholder 2">
            <a:extLst>
              <a:ext uri="{FF2B5EF4-FFF2-40B4-BE49-F238E27FC236}">
                <a16:creationId xmlns:a16="http://schemas.microsoft.com/office/drawing/2014/main" id="{0B9B3EFD-DC3D-BF0F-EED4-0BE3E81E815D}"/>
              </a:ext>
            </a:extLst>
          </p:cNvPr>
          <p:cNvGraphicFramePr>
            <a:graphicFrameLocks noGrp="1"/>
          </p:cNvGraphicFramePr>
          <p:nvPr>
            <p:ph idx="1"/>
            <p:extLst>
              <p:ext uri="{D42A27DB-BD31-4B8C-83A1-F6EECF244321}">
                <p14:modId xmlns:p14="http://schemas.microsoft.com/office/powerpoint/2010/main" val="3834023293"/>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015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FBD86B-6AE7-7CE9-998D-BBCD7A361E9A}"/>
              </a:ext>
            </a:extLst>
          </p:cNvPr>
          <p:cNvSpPr>
            <a:spLocks noGrp="1"/>
          </p:cNvSpPr>
          <p:nvPr>
            <p:ph type="title"/>
          </p:nvPr>
        </p:nvSpPr>
        <p:spPr>
          <a:xfrm>
            <a:off x="723591" y="804333"/>
            <a:ext cx="2543925" cy="5249334"/>
          </a:xfrm>
        </p:spPr>
        <p:txBody>
          <a:bodyPr>
            <a:normAutofit/>
          </a:bodyPr>
          <a:lstStyle/>
          <a:p>
            <a:pPr algn="r"/>
            <a:r>
              <a:rPr lang="en-GB" sz="4100">
                <a:solidFill>
                  <a:srgbClr val="FFFFFF"/>
                </a:solidFill>
              </a:rPr>
              <a:t>Background information</a:t>
            </a:r>
            <a:endParaRPr lang="en-KE" sz="4100">
              <a:solidFill>
                <a:srgbClr val="FFFFFF"/>
              </a:solidFill>
            </a:endParaRPr>
          </a:p>
        </p:txBody>
      </p:sp>
      <p:sp>
        <p:nvSpPr>
          <p:cNvPr id="3" name="Content Placeholder 2">
            <a:extLst>
              <a:ext uri="{FF2B5EF4-FFF2-40B4-BE49-F238E27FC236}">
                <a16:creationId xmlns:a16="http://schemas.microsoft.com/office/drawing/2014/main" id="{26898899-6731-CA00-587E-38E2F39D40CC}"/>
              </a:ext>
            </a:extLst>
          </p:cNvPr>
          <p:cNvSpPr>
            <a:spLocks noGrp="1"/>
          </p:cNvSpPr>
          <p:nvPr>
            <p:ph idx="1"/>
          </p:nvPr>
        </p:nvSpPr>
        <p:spPr>
          <a:xfrm>
            <a:off x="3713286" y="804333"/>
            <a:ext cx="4729502" cy="5249334"/>
          </a:xfrm>
        </p:spPr>
        <p:txBody>
          <a:bodyPr anchor="ctr">
            <a:normAutofit/>
          </a:bodyPr>
          <a:lstStyle/>
          <a:p>
            <a:r>
              <a:rPr lang="en-GB" sz="1700"/>
              <a:t>Water utilities play a crucial role in ensuring reliable access to clean water while maintain financial sustainability.</a:t>
            </a:r>
          </a:p>
          <a:p>
            <a:r>
              <a:rPr lang="en-GB" sz="1700"/>
              <a:t>One of the major operational challenges faced by water companies is arrears accumulation. This affects revenue collection, service delivery and infrastructure maintenance.</a:t>
            </a:r>
          </a:p>
          <a:p>
            <a:r>
              <a:rPr lang="en-GB" sz="1700"/>
              <a:t>Traditional approaches to managing arrears often rely on blanket enforcement measures, such as mass disconnections, which can be costly and socially disruptive.</a:t>
            </a:r>
          </a:p>
          <a:p>
            <a:r>
              <a:rPr lang="en-GB" sz="1700"/>
              <a:t>There is a growing need for data driven approaches to better understand customer behaviour and manage arrears risk.</a:t>
            </a:r>
          </a:p>
          <a:p>
            <a:r>
              <a:rPr lang="en-GB" sz="1700"/>
              <a:t>For this reason, </a:t>
            </a:r>
            <a:r>
              <a:rPr lang="en-GB" sz="1700" err="1"/>
              <a:t>Budalangi</a:t>
            </a:r>
            <a:r>
              <a:rPr lang="en-GB" sz="1700"/>
              <a:t> water used available data to identify distinct customer behaviour, predict customers at high risk of falling into arrears and design mitigations to cub the arrears risk.</a:t>
            </a:r>
            <a:endParaRPr lang="en-KE" sz="1700"/>
          </a:p>
        </p:txBody>
      </p:sp>
    </p:spTree>
    <p:extLst>
      <p:ext uri="{BB962C8B-B14F-4D97-AF65-F5344CB8AC3E}">
        <p14:creationId xmlns:p14="http://schemas.microsoft.com/office/powerpoint/2010/main" val="3233424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7CF805-C4DF-4548-AA08-7997CD552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BC82E0D7-37D0-4C31-B2DA-233C8F10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6823143" cy="6148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585216"/>
            <a:ext cx="6051821" cy="1499616"/>
          </a:xfrm>
        </p:spPr>
        <p:txBody>
          <a:bodyPr>
            <a:normAutofit/>
          </a:bodyPr>
          <a:lstStyle/>
          <a:p>
            <a:r>
              <a:rPr lang="en-GB">
                <a:solidFill>
                  <a:srgbClr val="FFFFFF"/>
                </a:solidFill>
              </a:rPr>
              <a:t>Executive Summary</a:t>
            </a:r>
          </a:p>
        </p:txBody>
      </p:sp>
      <p:cxnSp>
        <p:nvCxnSpPr>
          <p:cNvPr id="30" name="Straight Connector 29">
            <a:extLst>
              <a:ext uri="{FF2B5EF4-FFF2-40B4-BE49-F238E27FC236}">
                <a16:creationId xmlns:a16="http://schemas.microsoft.com/office/drawing/2014/main" id="{1AD3A364-FD48-4C42-B623-DAD0C3ED6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Content Placeholder 2"/>
          <p:cNvSpPr>
            <a:spLocks noGrp="1"/>
          </p:cNvSpPr>
          <p:nvPr>
            <p:ph idx="1"/>
          </p:nvPr>
        </p:nvSpPr>
        <p:spPr>
          <a:xfrm>
            <a:off x="768096" y="2286000"/>
            <a:ext cx="6055614" cy="3862971"/>
          </a:xfrm>
        </p:spPr>
        <p:txBody>
          <a:bodyPr>
            <a:normAutofit/>
          </a:bodyPr>
          <a:lstStyle/>
          <a:p>
            <a:r>
              <a:rPr lang="en-GB" sz="1400" dirty="0">
                <a:solidFill>
                  <a:srgbClr val="FFFFFF"/>
                </a:solidFill>
              </a:rPr>
              <a:t> Customers were segmented into three different clusters according to their behaviours. Cluster 1 has an average payment ratio of 0.736, cluster 2 has 0.857 and cluster 3, 0.786.</a:t>
            </a:r>
          </a:p>
          <a:p>
            <a:r>
              <a:rPr lang="en-GB" sz="1400" dirty="0">
                <a:solidFill>
                  <a:srgbClr val="FFFFFF"/>
                </a:solidFill>
              </a:rPr>
              <a:t>The highest arrears rate among all the three clusters is 13.4% from cluster 1, with a disconnection rate of 6.32%. This is followed by 6.62 from cluster 3 with a disconnection rate of 1.88% and lastly 1.97% from cluster2 with a disconnection rate of 0%. Cluster 1 and 2 is largely composed of Domestic Customers who mostly need flexible payment and improved customer engagement.</a:t>
            </a:r>
          </a:p>
          <a:p>
            <a:r>
              <a:rPr lang="en-GB" sz="1400" dirty="0">
                <a:solidFill>
                  <a:srgbClr val="FFFFFF"/>
                </a:solidFill>
              </a:rPr>
              <a:t> Cluster 3 majorly comprises of Commercial and Institutional customers. This explains why the average monthly consumption is highest amongst the three clusters. There is a slightly high average payment delay which is the typical behaviour of institutions and commercial customers.</a:t>
            </a:r>
          </a:p>
          <a:p>
            <a:r>
              <a:rPr lang="en-GB" sz="1400" dirty="0">
                <a:solidFill>
                  <a:srgbClr val="FFFFFF"/>
                </a:solidFill>
              </a:rPr>
              <a:t>The Zones are evenly distributed within the clusters hence geographical location does not affect customer behaviour.</a:t>
            </a:r>
          </a:p>
        </p:txBody>
      </p:sp>
      <p:sp>
        <p:nvSpPr>
          <p:cNvPr id="31" name="Rectangle 30">
            <a:extLst>
              <a:ext uri="{FF2B5EF4-FFF2-40B4-BE49-F238E27FC236}">
                <a16:creationId xmlns:a16="http://schemas.microsoft.com/office/drawing/2014/main" id="{F9F40211-4307-4706-AE59-83AC153FB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6145103"/>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KE"/>
          </a:p>
        </p:txBody>
      </p:sp>
      <p:sp>
        <p:nvSpPr>
          <p:cNvPr id="26"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KE"/>
          </a:p>
        </p:txBody>
      </p:sp>
      <p:cxnSp>
        <p:nvCxnSpPr>
          <p:cNvPr id="28" name="Straight Connector 27">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4BA0C938-1486-4635-9F6C-44D521FA6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42A7ABB-6A86-4A02-A072-FA82CDCE5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0196" y="484632"/>
            <a:ext cx="8433027" cy="5880916"/>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F57F24-8AEA-219A-54F1-EB30E7F87C35}"/>
              </a:ext>
            </a:extLst>
          </p:cNvPr>
          <p:cNvSpPr>
            <a:spLocks noGrp="1"/>
          </p:cNvSpPr>
          <p:nvPr>
            <p:ph type="title"/>
          </p:nvPr>
        </p:nvSpPr>
        <p:spPr>
          <a:xfrm>
            <a:off x="3274017" y="806365"/>
            <a:ext cx="5265560" cy="5229630"/>
          </a:xfrm>
        </p:spPr>
        <p:txBody>
          <a:bodyPr vert="horz" lIns="91440" tIns="45720" rIns="91440" bIns="45720" rtlCol="0" anchor="ctr">
            <a:normAutofit/>
          </a:bodyPr>
          <a:lstStyle/>
          <a:p>
            <a:r>
              <a:rPr lang="en-US" sz="5700" spc="200"/>
              <a:t>Key findings</a:t>
            </a:r>
          </a:p>
        </p:txBody>
      </p:sp>
      <p:cxnSp>
        <p:nvCxnSpPr>
          <p:cNvPr id="34" name="Straight Connector 33">
            <a:extLst>
              <a:ext uri="{FF2B5EF4-FFF2-40B4-BE49-F238E27FC236}">
                <a16:creationId xmlns:a16="http://schemas.microsoft.com/office/drawing/2014/main" id="{B6916720-6D22-4D4B-BC19-23008C7DD4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4951"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9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10" y="643291"/>
            <a:ext cx="6571343" cy="689302"/>
          </a:xfrm>
        </p:spPr>
        <p:txBody>
          <a:bodyPr/>
          <a:lstStyle/>
          <a:p>
            <a:r>
              <a:rPr lang="en-GB" dirty="0"/>
              <a:t>Customer segmentation</a:t>
            </a:r>
            <a:endParaRPr dirty="0"/>
          </a:p>
        </p:txBody>
      </p:sp>
      <p:sp>
        <p:nvSpPr>
          <p:cNvPr id="3" name="Content Placeholder 2"/>
          <p:cNvSpPr>
            <a:spLocks noGrp="1"/>
          </p:cNvSpPr>
          <p:nvPr>
            <p:ph idx="1"/>
          </p:nvPr>
        </p:nvSpPr>
        <p:spPr>
          <a:xfrm>
            <a:off x="457200" y="1086416"/>
            <a:ext cx="7908202" cy="1720158"/>
          </a:xfrm>
        </p:spPr>
        <p:txBody>
          <a:bodyPr>
            <a:normAutofit fontScale="77500" lnSpcReduction="20000"/>
          </a:bodyPr>
          <a:lstStyle/>
          <a:p>
            <a:pPr marL="0" indent="0">
              <a:buNone/>
            </a:pPr>
            <a:endParaRPr dirty="0"/>
          </a:p>
          <a:p>
            <a:r>
              <a:rPr lang="en-GB" dirty="0"/>
              <a:t>The data segments customers into clusters according to their behaviour.</a:t>
            </a:r>
          </a:p>
          <a:p>
            <a:r>
              <a:rPr lang="en-GB" dirty="0"/>
              <a:t>The objective is to understand how different customers behave, and to provide actionable insights to improve revenue collection and customer management.</a:t>
            </a:r>
          </a:p>
          <a:p>
            <a:r>
              <a:rPr lang="en-GB" dirty="0"/>
              <a:t>Cluster 1 has an average pay ratio of 0.736, cluster 2 , which has the highest and is the most stable cluster, has 0.857 and cluster 3 has 0.786.</a:t>
            </a:r>
          </a:p>
        </p:txBody>
      </p:sp>
      <p:graphicFrame>
        <p:nvGraphicFramePr>
          <p:cNvPr id="8" name="Chart 7">
            <a:extLst>
              <a:ext uri="{FF2B5EF4-FFF2-40B4-BE49-F238E27FC236}">
                <a16:creationId xmlns:a16="http://schemas.microsoft.com/office/drawing/2014/main" id="{2053FD02-1AE8-2E3F-C75C-13A6F5C35FBE}"/>
              </a:ext>
            </a:extLst>
          </p:cNvPr>
          <p:cNvGraphicFramePr/>
          <p:nvPr>
            <p:extLst>
              <p:ext uri="{D42A27DB-BD31-4B8C-83A1-F6EECF244321}">
                <p14:modId xmlns:p14="http://schemas.microsoft.com/office/powerpoint/2010/main" val="3297794049"/>
              </p:ext>
            </p:extLst>
          </p:nvPr>
        </p:nvGraphicFramePr>
        <p:xfrm>
          <a:off x="1216183" y="3041964"/>
          <a:ext cx="4578036" cy="3172745"/>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a:extLst>
              <a:ext uri="{FF2B5EF4-FFF2-40B4-BE49-F238E27FC236}">
                <a16:creationId xmlns:a16="http://schemas.microsoft.com/office/drawing/2014/main" id="{C0434B8F-C56A-7947-3467-9E833F1DEED8}"/>
              </a:ext>
            </a:extLst>
          </p:cNvPr>
          <p:cNvPicPr>
            <a:picLocks noChangeAspect="1"/>
          </p:cNvPicPr>
          <p:nvPr/>
        </p:nvPicPr>
        <p:blipFill>
          <a:blip r:embed="rId3">
            <a:duotone>
              <a:prstClr val="black"/>
              <a:schemeClr val="accent2">
                <a:tint val="45000"/>
                <a:satMod val="400000"/>
              </a:schemeClr>
            </a:duotone>
          </a:blip>
          <a:stretch>
            <a:fillRect/>
          </a:stretch>
        </p:blipFill>
        <p:spPr>
          <a:xfrm>
            <a:off x="5911913" y="3249699"/>
            <a:ext cx="3023858" cy="26441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0BAFB-8284-33B0-7E5F-8B0C45FC5DCE}"/>
              </a:ext>
            </a:extLst>
          </p:cNvPr>
          <p:cNvSpPr>
            <a:spLocks noGrp="1"/>
          </p:cNvSpPr>
          <p:nvPr>
            <p:ph type="title"/>
          </p:nvPr>
        </p:nvSpPr>
        <p:spPr>
          <a:xfrm>
            <a:off x="1088685" y="279902"/>
            <a:ext cx="3132383" cy="1049235"/>
          </a:xfrm>
        </p:spPr>
        <p:txBody>
          <a:bodyPr>
            <a:normAutofit/>
          </a:bodyPr>
          <a:lstStyle/>
          <a:p>
            <a:r>
              <a:rPr lang="en-GB" sz="3000" dirty="0"/>
              <a:t>Cluster by customer type</a:t>
            </a:r>
            <a:endParaRPr lang="en-KE" sz="3000" dirty="0"/>
          </a:p>
        </p:txBody>
      </p:sp>
      <p:sp>
        <p:nvSpPr>
          <p:cNvPr id="3" name="Content Placeholder 2">
            <a:extLst>
              <a:ext uri="{FF2B5EF4-FFF2-40B4-BE49-F238E27FC236}">
                <a16:creationId xmlns:a16="http://schemas.microsoft.com/office/drawing/2014/main" id="{9FAD2419-3A03-0B41-A208-565C48D52036}"/>
              </a:ext>
            </a:extLst>
          </p:cNvPr>
          <p:cNvSpPr>
            <a:spLocks noGrp="1"/>
          </p:cNvSpPr>
          <p:nvPr>
            <p:ph idx="1"/>
          </p:nvPr>
        </p:nvSpPr>
        <p:spPr>
          <a:xfrm>
            <a:off x="990168" y="1664116"/>
            <a:ext cx="3129159" cy="3117582"/>
          </a:xfrm>
        </p:spPr>
        <p:txBody>
          <a:bodyPr>
            <a:normAutofit/>
          </a:bodyPr>
          <a:lstStyle/>
          <a:p>
            <a:pPr>
              <a:lnSpc>
                <a:spcPct val="110000"/>
              </a:lnSpc>
            </a:pPr>
            <a:r>
              <a:rPr lang="en-GB" sz="1700" dirty="0"/>
              <a:t>The graph below shows the percentage of each customer type within each cluster. </a:t>
            </a:r>
          </a:p>
          <a:p>
            <a:pPr>
              <a:lnSpc>
                <a:spcPct val="110000"/>
              </a:lnSpc>
            </a:pPr>
            <a:r>
              <a:rPr lang="en-GB" sz="1700" dirty="0"/>
              <a:t>Both cluster 1 and 2 are dominated by Domestic consumers with a percentage of 92 and 99 respectively. Cluster 3 comprises of Commercial (74%) and Institutional (26%).</a:t>
            </a:r>
          </a:p>
        </p:txBody>
      </p:sp>
      <p:graphicFrame>
        <p:nvGraphicFramePr>
          <p:cNvPr id="7" name="Chart 6">
            <a:extLst>
              <a:ext uri="{FF2B5EF4-FFF2-40B4-BE49-F238E27FC236}">
                <a16:creationId xmlns:a16="http://schemas.microsoft.com/office/drawing/2014/main" id="{36F990DA-9ADF-2C22-E2AE-3301950EAAC6}"/>
              </a:ext>
            </a:extLst>
          </p:cNvPr>
          <p:cNvGraphicFramePr/>
          <p:nvPr>
            <p:extLst>
              <p:ext uri="{D42A27DB-BD31-4B8C-83A1-F6EECF244321}">
                <p14:modId xmlns:p14="http://schemas.microsoft.com/office/powerpoint/2010/main" val="1466561207"/>
              </p:ext>
            </p:extLst>
          </p:nvPr>
        </p:nvGraphicFramePr>
        <p:xfrm>
          <a:off x="4490518" y="571375"/>
          <a:ext cx="4442234" cy="4064000"/>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a:extLst>
              <a:ext uri="{FF2B5EF4-FFF2-40B4-BE49-F238E27FC236}">
                <a16:creationId xmlns:a16="http://schemas.microsoft.com/office/drawing/2014/main" id="{3760C3E5-E640-8FF6-2623-D1A31E46B1B3}"/>
              </a:ext>
            </a:extLst>
          </p:cNvPr>
          <p:cNvPicPr>
            <a:picLocks noChangeAspect="1"/>
          </p:cNvPicPr>
          <p:nvPr/>
        </p:nvPicPr>
        <p:blipFill>
          <a:blip r:embed="rId3">
            <a:duotone>
              <a:prstClr val="black"/>
              <a:schemeClr val="accent1">
                <a:tint val="45000"/>
                <a:satMod val="400000"/>
              </a:schemeClr>
            </a:duotone>
          </a:blip>
          <a:stretch>
            <a:fillRect/>
          </a:stretch>
        </p:blipFill>
        <p:spPr>
          <a:xfrm>
            <a:off x="5178583" y="4635376"/>
            <a:ext cx="3382978" cy="2150198"/>
          </a:xfrm>
          <a:prstGeom prst="rect">
            <a:avLst/>
          </a:prstGeom>
        </p:spPr>
      </p:pic>
    </p:spTree>
    <p:extLst>
      <p:ext uri="{BB962C8B-B14F-4D97-AF65-F5344CB8AC3E}">
        <p14:creationId xmlns:p14="http://schemas.microsoft.com/office/powerpoint/2010/main" val="1300146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1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459317"/>
            <a:ext cx="3291840" cy="1749552"/>
          </a:xfrm>
        </p:spPr>
        <p:txBody>
          <a:bodyPr>
            <a:normAutofit/>
          </a:bodyPr>
          <a:lstStyle/>
          <a:p>
            <a:r>
              <a:rPr lang="en-GB" sz="3800"/>
              <a:t>Cluster by zone</a:t>
            </a:r>
          </a:p>
        </p:txBody>
      </p:sp>
      <p:cxnSp>
        <p:nvCxnSpPr>
          <p:cNvPr id="14" name="Straight Connector 13">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8096" y="2286000"/>
            <a:ext cx="3291840" cy="3931920"/>
          </a:xfrm>
        </p:spPr>
        <p:txBody>
          <a:bodyPr>
            <a:normAutofit/>
          </a:bodyPr>
          <a:lstStyle/>
          <a:p>
            <a:r>
              <a:rPr lang="en-GB" sz="1600"/>
              <a:t>Each cluster consists of 4 different zones represented in the data.</a:t>
            </a:r>
          </a:p>
          <a:p>
            <a:r>
              <a:rPr lang="en-GB" sz="1600"/>
              <a:t>The zones are evenly distributed across. In cluster 1, Zone A leads with a percentage of 34. In cluster 2 and 3, the zones range between 22 and 29.</a:t>
            </a:r>
          </a:p>
          <a:p>
            <a:r>
              <a:rPr lang="en-GB" sz="1600"/>
              <a:t>This implies that the behaviour of the customer is not directly affected by the zones they come from</a:t>
            </a:r>
          </a:p>
          <a:p>
            <a:endParaRPr lang="en-GB" sz="1600"/>
          </a:p>
        </p:txBody>
      </p:sp>
      <p:graphicFrame>
        <p:nvGraphicFramePr>
          <p:cNvPr id="7" name="Chart 6">
            <a:extLst>
              <a:ext uri="{FF2B5EF4-FFF2-40B4-BE49-F238E27FC236}">
                <a16:creationId xmlns:a16="http://schemas.microsoft.com/office/drawing/2014/main" id="{88E90F4D-81D9-6A76-AE66-BDC349523593}"/>
              </a:ext>
            </a:extLst>
          </p:cNvPr>
          <p:cNvGraphicFramePr/>
          <p:nvPr>
            <p:extLst>
              <p:ext uri="{D42A27DB-BD31-4B8C-83A1-F6EECF244321}">
                <p14:modId xmlns:p14="http://schemas.microsoft.com/office/powerpoint/2010/main" val="2434047476"/>
              </p:ext>
            </p:extLst>
          </p:nvPr>
        </p:nvGraphicFramePr>
        <p:xfrm>
          <a:off x="5292087" y="960120"/>
          <a:ext cx="3131821" cy="494085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20"/>
            <a:ext cx="7202456" cy="843212"/>
          </a:xfrm>
        </p:spPr>
        <p:txBody>
          <a:bodyPr>
            <a:normAutofit fontScale="90000"/>
          </a:bodyPr>
          <a:lstStyle/>
          <a:p>
            <a:r>
              <a:rPr lang="en-GB" dirty="0"/>
              <a:t>Customer segmentation</a:t>
            </a:r>
            <a:br>
              <a:rPr lang="en-GB" dirty="0"/>
            </a:br>
            <a:r>
              <a:rPr lang="en-GB" dirty="0"/>
              <a:t>	consumption</a:t>
            </a:r>
            <a:endParaRPr dirty="0"/>
          </a:p>
        </p:txBody>
      </p:sp>
      <p:sp>
        <p:nvSpPr>
          <p:cNvPr id="3" name="Content Placeholder 2"/>
          <p:cNvSpPr>
            <a:spLocks noGrp="1"/>
          </p:cNvSpPr>
          <p:nvPr>
            <p:ph idx="1"/>
          </p:nvPr>
        </p:nvSpPr>
        <p:spPr>
          <a:xfrm>
            <a:off x="1088684" y="2015734"/>
            <a:ext cx="3119137" cy="3450613"/>
          </a:xfrm>
        </p:spPr>
        <p:txBody>
          <a:bodyPr>
            <a:normAutofit/>
          </a:bodyPr>
          <a:lstStyle/>
          <a:p>
            <a:pPr>
              <a:lnSpc>
                <a:spcPct val="110000"/>
              </a:lnSpc>
            </a:pPr>
            <a:r>
              <a:rPr lang="en-GB" sz="1300" dirty="0"/>
              <a:t>The table below shows average monthly consumption of water. </a:t>
            </a:r>
          </a:p>
          <a:p>
            <a:pPr>
              <a:lnSpc>
                <a:spcPct val="110000"/>
              </a:lnSpc>
            </a:pPr>
            <a:r>
              <a:rPr lang="en-GB" sz="1300" dirty="0"/>
              <a:t>Cluster 3 leads in the average consumption with a volume of 46.83 cubic metres. The high volume of consumption is achieved because the cluster is mainly comprised of Commercial and Institutional type of customers.</a:t>
            </a:r>
          </a:p>
          <a:p>
            <a:pPr>
              <a:lnSpc>
                <a:spcPct val="110000"/>
              </a:lnSpc>
            </a:pPr>
            <a:r>
              <a:rPr lang="en-GB" sz="1300" dirty="0"/>
              <a:t>Cluster 1 and 2 have almost the same amount of consumption as they are overwhelmingly composed of Domestic customers.</a:t>
            </a:r>
          </a:p>
        </p:txBody>
      </p:sp>
      <p:graphicFrame>
        <p:nvGraphicFramePr>
          <p:cNvPr id="6" name="Table 5">
            <a:extLst>
              <a:ext uri="{FF2B5EF4-FFF2-40B4-BE49-F238E27FC236}">
                <a16:creationId xmlns:a16="http://schemas.microsoft.com/office/drawing/2014/main" id="{D9C14017-17D7-BBDE-2495-BAD0C6D9128B}"/>
              </a:ext>
            </a:extLst>
          </p:cNvPr>
          <p:cNvGraphicFramePr>
            <a:graphicFrameLocks noGrp="1"/>
          </p:cNvGraphicFramePr>
          <p:nvPr>
            <p:extLst>
              <p:ext uri="{D42A27DB-BD31-4B8C-83A1-F6EECF244321}">
                <p14:modId xmlns:p14="http://schemas.microsoft.com/office/powerpoint/2010/main" val="3600451758"/>
              </p:ext>
            </p:extLst>
          </p:nvPr>
        </p:nvGraphicFramePr>
        <p:xfrm>
          <a:off x="4582368" y="2091349"/>
          <a:ext cx="3708772" cy="3241140"/>
        </p:xfrm>
        <a:graphic>
          <a:graphicData uri="http://schemas.openxmlformats.org/drawingml/2006/table">
            <a:tbl>
              <a:tblPr firstRow="1" bandRow="1">
                <a:tableStyleId>{5C22544A-7EE6-4342-B048-85BDC9FD1C3A}</a:tableStyleId>
              </a:tblPr>
              <a:tblGrid>
                <a:gridCol w="1854386">
                  <a:extLst>
                    <a:ext uri="{9D8B030D-6E8A-4147-A177-3AD203B41FA5}">
                      <a16:colId xmlns:a16="http://schemas.microsoft.com/office/drawing/2014/main" val="1247584151"/>
                    </a:ext>
                  </a:extLst>
                </a:gridCol>
                <a:gridCol w="1854386">
                  <a:extLst>
                    <a:ext uri="{9D8B030D-6E8A-4147-A177-3AD203B41FA5}">
                      <a16:colId xmlns:a16="http://schemas.microsoft.com/office/drawing/2014/main" val="3022949810"/>
                    </a:ext>
                  </a:extLst>
                </a:gridCol>
              </a:tblGrid>
              <a:tr h="810285">
                <a:tc>
                  <a:txBody>
                    <a:bodyPr/>
                    <a:lstStyle/>
                    <a:p>
                      <a:pPr algn="l" fontAlgn="b">
                        <a:buNone/>
                      </a:pPr>
                      <a:r>
                        <a:rPr lang="en-GB" sz="2400" b="0" i="0" u="none" strike="noStrike" dirty="0">
                          <a:solidFill>
                            <a:srgbClr val="000000"/>
                          </a:solidFill>
                          <a:effectLst/>
                          <a:latin typeface="Calibri" panose="020F0502020204030204" pitchFamily="34" charset="0"/>
                        </a:rPr>
                        <a:t>Cluster</a:t>
                      </a:r>
                    </a:p>
                  </a:txBody>
                  <a:tcPr marL="9525" marR="9525" marT="9525" marB="0" anchor="b"/>
                </a:tc>
                <a:tc>
                  <a:txBody>
                    <a:bodyPr/>
                    <a:lstStyle/>
                    <a:p>
                      <a:pPr algn="ctr" fontAlgn="b">
                        <a:buNone/>
                      </a:pPr>
                      <a:r>
                        <a:rPr lang="en-GB" sz="1800" b="1" i="0" u="none" strike="noStrike" dirty="0">
                          <a:solidFill>
                            <a:srgbClr val="000000"/>
                          </a:solidFill>
                          <a:effectLst/>
                          <a:latin typeface="Calibri" panose="020F0502020204030204" pitchFamily="34" charset="0"/>
                        </a:rPr>
                        <a:t>Average Monthly Volume</a:t>
                      </a:r>
                    </a:p>
                  </a:txBody>
                  <a:tcPr marL="9525" marR="9525" marT="9525" marB="0" anchor="b"/>
                </a:tc>
                <a:extLst>
                  <a:ext uri="{0D108BD9-81ED-4DB2-BD59-A6C34878D82A}">
                    <a16:rowId xmlns:a16="http://schemas.microsoft.com/office/drawing/2014/main" val="4261652740"/>
                  </a:ext>
                </a:extLst>
              </a:tr>
              <a:tr h="810285">
                <a:tc>
                  <a:txBody>
                    <a:bodyPr/>
                    <a:lstStyle/>
                    <a:p>
                      <a:pPr algn="ctr" fontAlgn="b">
                        <a:buNone/>
                      </a:pPr>
                      <a:r>
                        <a:rPr lang="en-KE" sz="16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ctr" fontAlgn="b">
                        <a:buNone/>
                      </a:pPr>
                      <a:r>
                        <a:rPr lang="en-KE" sz="1600" b="0" i="0" u="none" strike="noStrike" dirty="0">
                          <a:solidFill>
                            <a:srgbClr val="000000"/>
                          </a:solidFill>
                          <a:effectLst/>
                          <a:latin typeface="Calibri" panose="020F0502020204030204" pitchFamily="34" charset="0"/>
                        </a:rPr>
                        <a:t>14.48</a:t>
                      </a:r>
                    </a:p>
                  </a:txBody>
                  <a:tcPr marL="9525" marR="9525" marT="9525" marB="0" anchor="b"/>
                </a:tc>
                <a:extLst>
                  <a:ext uri="{0D108BD9-81ED-4DB2-BD59-A6C34878D82A}">
                    <a16:rowId xmlns:a16="http://schemas.microsoft.com/office/drawing/2014/main" val="2299746375"/>
                  </a:ext>
                </a:extLst>
              </a:tr>
              <a:tr h="810285">
                <a:tc>
                  <a:txBody>
                    <a:bodyPr/>
                    <a:lstStyle/>
                    <a:p>
                      <a:pPr algn="ctr" fontAlgn="b">
                        <a:buNone/>
                      </a:pPr>
                      <a:r>
                        <a:rPr lang="en-KE" sz="16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buNone/>
                      </a:pPr>
                      <a:r>
                        <a:rPr lang="en-KE" sz="1600" b="0" i="0" u="none" strike="noStrike" dirty="0">
                          <a:solidFill>
                            <a:srgbClr val="000000"/>
                          </a:solidFill>
                          <a:effectLst/>
                          <a:latin typeface="Calibri" panose="020F0502020204030204" pitchFamily="34" charset="0"/>
                        </a:rPr>
                        <a:t>12.62</a:t>
                      </a:r>
                    </a:p>
                  </a:txBody>
                  <a:tcPr marL="9525" marR="9525" marT="9525" marB="0" anchor="b"/>
                </a:tc>
                <a:extLst>
                  <a:ext uri="{0D108BD9-81ED-4DB2-BD59-A6C34878D82A}">
                    <a16:rowId xmlns:a16="http://schemas.microsoft.com/office/drawing/2014/main" val="3599183922"/>
                  </a:ext>
                </a:extLst>
              </a:tr>
              <a:tr h="810285">
                <a:tc>
                  <a:txBody>
                    <a:bodyPr/>
                    <a:lstStyle/>
                    <a:p>
                      <a:pPr algn="ctr" fontAlgn="b">
                        <a:buNone/>
                      </a:pPr>
                      <a:r>
                        <a:rPr lang="en-KE" sz="16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buNone/>
                      </a:pPr>
                      <a:r>
                        <a:rPr lang="en-KE" sz="1600" b="0" i="0" u="none" strike="noStrike" dirty="0">
                          <a:solidFill>
                            <a:srgbClr val="000000"/>
                          </a:solidFill>
                          <a:effectLst/>
                          <a:latin typeface="Calibri" panose="020F0502020204030204" pitchFamily="34" charset="0"/>
                        </a:rPr>
                        <a:t>46.83</a:t>
                      </a:r>
                    </a:p>
                  </a:txBody>
                  <a:tcPr marL="9525" marR="9525" marT="9525" marB="0" anchor="b"/>
                </a:tc>
                <a:extLst>
                  <a:ext uri="{0D108BD9-81ED-4DB2-BD59-A6C34878D82A}">
                    <a16:rowId xmlns:a16="http://schemas.microsoft.com/office/drawing/2014/main" val="237136067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B6F0-724D-DEDF-355C-C9F5D71A5568}"/>
              </a:ext>
            </a:extLst>
          </p:cNvPr>
          <p:cNvSpPr>
            <a:spLocks noGrp="1"/>
          </p:cNvSpPr>
          <p:nvPr>
            <p:ph type="title"/>
          </p:nvPr>
        </p:nvSpPr>
        <p:spPr>
          <a:xfrm>
            <a:off x="1085461" y="271604"/>
            <a:ext cx="3132383" cy="823866"/>
          </a:xfrm>
        </p:spPr>
        <p:txBody>
          <a:bodyPr>
            <a:noAutofit/>
          </a:bodyPr>
          <a:lstStyle/>
          <a:p>
            <a:r>
              <a:rPr lang="en-GB" sz="4000" dirty="0"/>
              <a:t>REVENUE</a:t>
            </a:r>
            <a:endParaRPr lang="en-KE" sz="4000" dirty="0"/>
          </a:p>
        </p:txBody>
      </p:sp>
      <p:sp>
        <p:nvSpPr>
          <p:cNvPr id="3" name="Content Placeholder 2">
            <a:extLst>
              <a:ext uri="{FF2B5EF4-FFF2-40B4-BE49-F238E27FC236}">
                <a16:creationId xmlns:a16="http://schemas.microsoft.com/office/drawing/2014/main" id="{2BFEB0A6-40C4-E6CD-0BA5-2DFCA2415773}"/>
              </a:ext>
            </a:extLst>
          </p:cNvPr>
          <p:cNvSpPr>
            <a:spLocks noGrp="1"/>
          </p:cNvSpPr>
          <p:nvPr>
            <p:ph idx="1"/>
          </p:nvPr>
        </p:nvSpPr>
        <p:spPr>
          <a:xfrm>
            <a:off x="1088685" y="1269258"/>
            <a:ext cx="3129159" cy="4660761"/>
          </a:xfrm>
        </p:spPr>
        <p:txBody>
          <a:bodyPr>
            <a:normAutofit fontScale="92500" lnSpcReduction="10000"/>
          </a:bodyPr>
          <a:lstStyle/>
          <a:p>
            <a:pPr>
              <a:lnSpc>
                <a:spcPct val="110000"/>
              </a:lnSpc>
            </a:pPr>
            <a:r>
              <a:rPr lang="en-GB" sz="1700" dirty="0"/>
              <a:t>Cluster 2 has the highest Pay ratio(86%) among all the 3 clusters. This is followed closely by cluster 3 with a percentage of 79. Cluster 1 comes in last with 74%.</a:t>
            </a:r>
          </a:p>
          <a:p>
            <a:pPr>
              <a:lnSpc>
                <a:spcPct val="110000"/>
              </a:lnSpc>
            </a:pPr>
            <a:r>
              <a:rPr lang="en-GB" sz="1700" dirty="0"/>
              <a:t>The highest arrears rate is in cluster 1 with 13. This same cluster has the highest disconnection rate and complaints rate of 6. </a:t>
            </a:r>
          </a:p>
          <a:p>
            <a:pPr>
              <a:lnSpc>
                <a:spcPct val="110000"/>
              </a:lnSpc>
            </a:pPr>
            <a:r>
              <a:rPr lang="en-GB" sz="1700" dirty="0"/>
              <a:t>We can tell the pay ratio is lowest and arrears rate is highest with possibilities of dissatisfaction of services or affordability constrains for the domestic customers in cluster 1 as the highest complaints rate is observed.</a:t>
            </a:r>
          </a:p>
          <a:p>
            <a:pPr>
              <a:lnSpc>
                <a:spcPct val="110000"/>
              </a:lnSpc>
            </a:pPr>
            <a:endParaRPr lang="en-GB" sz="1700" dirty="0"/>
          </a:p>
          <a:p>
            <a:pPr>
              <a:lnSpc>
                <a:spcPct val="110000"/>
              </a:lnSpc>
            </a:pPr>
            <a:endParaRPr lang="en-KE" sz="1700" dirty="0"/>
          </a:p>
        </p:txBody>
      </p:sp>
      <p:graphicFrame>
        <p:nvGraphicFramePr>
          <p:cNvPr id="6" name="Chart 5">
            <a:extLst>
              <a:ext uri="{FF2B5EF4-FFF2-40B4-BE49-F238E27FC236}">
                <a16:creationId xmlns:a16="http://schemas.microsoft.com/office/drawing/2014/main" id="{823FB344-C154-A563-EF8F-DCD9ABD48CD2}"/>
              </a:ext>
            </a:extLst>
          </p:cNvPr>
          <p:cNvGraphicFramePr/>
          <p:nvPr>
            <p:extLst>
              <p:ext uri="{D42A27DB-BD31-4B8C-83A1-F6EECF244321}">
                <p14:modId xmlns:p14="http://schemas.microsoft.com/office/powerpoint/2010/main" val="4071030907"/>
              </p:ext>
            </p:extLst>
          </p:nvPr>
        </p:nvGraphicFramePr>
        <p:xfrm>
          <a:off x="4454305" y="1269258"/>
          <a:ext cx="4390932" cy="406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7731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8BD53C-CD99-9EFD-F522-E2C8029C0008}"/>
              </a:ext>
            </a:extLst>
          </p:cNvPr>
          <p:cNvSpPr>
            <a:spLocks noGrp="1"/>
          </p:cNvSpPr>
          <p:nvPr>
            <p:ph type="title"/>
          </p:nvPr>
        </p:nvSpPr>
        <p:spPr>
          <a:xfrm>
            <a:off x="482601" y="643467"/>
            <a:ext cx="2561709" cy="5571066"/>
          </a:xfrm>
        </p:spPr>
        <p:txBody>
          <a:bodyPr>
            <a:normAutofit/>
          </a:bodyPr>
          <a:lstStyle/>
          <a:p>
            <a:r>
              <a:rPr lang="en-GB">
                <a:solidFill>
                  <a:srgbClr val="FFFFFF"/>
                </a:solidFill>
              </a:rPr>
              <a:t>Predictors of arrears risk</a:t>
            </a:r>
            <a:endParaRPr lang="en-KE">
              <a:solidFill>
                <a:srgbClr val="FFFFFF"/>
              </a:solidFill>
            </a:endParaRPr>
          </a:p>
        </p:txBody>
      </p:sp>
      <p:graphicFrame>
        <p:nvGraphicFramePr>
          <p:cNvPr id="5" name="Content Placeholder 2">
            <a:extLst>
              <a:ext uri="{FF2B5EF4-FFF2-40B4-BE49-F238E27FC236}">
                <a16:creationId xmlns:a16="http://schemas.microsoft.com/office/drawing/2014/main" id="{D9A70363-EE7B-C24F-0D53-E3F8676A85F7}"/>
              </a:ext>
            </a:extLst>
          </p:cNvPr>
          <p:cNvGraphicFramePr>
            <a:graphicFrameLocks noGrp="1"/>
          </p:cNvGraphicFramePr>
          <p:nvPr>
            <p:ph idx="1"/>
            <p:extLst>
              <p:ext uri="{D42A27DB-BD31-4B8C-83A1-F6EECF244321}">
                <p14:modId xmlns:p14="http://schemas.microsoft.com/office/powerpoint/2010/main" val="3718135184"/>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030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7CF805-C4DF-4548-AA08-7997CD5524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C82E0D7-37D0-4C31-B2DA-233C8F10C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2"/>
            <a:ext cx="6823143" cy="6148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585216"/>
            <a:ext cx="6051821" cy="1499616"/>
          </a:xfrm>
        </p:spPr>
        <p:txBody>
          <a:bodyPr>
            <a:normAutofit/>
          </a:bodyPr>
          <a:lstStyle/>
          <a:p>
            <a:r>
              <a:rPr lang="en-GB">
                <a:solidFill>
                  <a:srgbClr val="FFFFFF"/>
                </a:solidFill>
              </a:rPr>
              <a:t>Strategic Recommendations</a:t>
            </a:r>
          </a:p>
        </p:txBody>
      </p:sp>
      <p:cxnSp>
        <p:nvCxnSpPr>
          <p:cNvPr id="12" name="Straight Connector 11">
            <a:extLst>
              <a:ext uri="{FF2B5EF4-FFF2-40B4-BE49-F238E27FC236}">
                <a16:creationId xmlns:a16="http://schemas.microsoft.com/office/drawing/2014/main" id="{1AD3A364-FD48-4C42-B623-DAD0C3ED6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8096" y="2286000"/>
            <a:ext cx="6055614" cy="3862971"/>
          </a:xfrm>
        </p:spPr>
        <p:txBody>
          <a:bodyPr>
            <a:normAutofit/>
          </a:bodyPr>
          <a:lstStyle/>
          <a:p>
            <a:r>
              <a:rPr lang="en-GB" sz="1400" dirty="0">
                <a:solidFill>
                  <a:srgbClr val="FFFFFF"/>
                </a:solidFill>
              </a:rPr>
              <a:t>From the findings, cluster 1 are high risk domestic customers. To prevent or minimize on arrears, some actions that need to be done are, sending SMS reminders a week before due dates; Introduce flexible payment plans; Early follow up at 5 to 10 days overdue; Investigate service complaints as they might be the reason for nonpayment.</a:t>
            </a:r>
          </a:p>
          <a:p>
            <a:r>
              <a:rPr lang="en-GB" sz="1400" dirty="0">
                <a:solidFill>
                  <a:srgbClr val="FFFFFF"/>
                </a:solidFill>
              </a:rPr>
              <a:t>Cluster 3 who are customers from institutions and commercials, have high consumption and revenue income. In short, these are the highest revenue drivers. The company should create a dedicated account management for these customers; introduce negotiated bills and payment schedule to reduce on disconnections and late payments; escalation protocols before disconnection.</a:t>
            </a:r>
          </a:p>
          <a:p>
            <a:r>
              <a:rPr lang="en-GB" sz="1400" dirty="0">
                <a:solidFill>
                  <a:srgbClr val="FFFFFF"/>
                </a:solidFill>
              </a:rPr>
              <a:t>The most stable segment is cluster 2. The company should aim at maintaining compliance and retaining trust. Actions that need to be taken include Light touch SMS reminders before due dates; Incentives for on-time payments; Priority service continuity.</a:t>
            </a:r>
          </a:p>
          <a:p>
            <a:r>
              <a:rPr lang="en-GB" sz="1400" dirty="0">
                <a:solidFill>
                  <a:srgbClr val="FFFFFF"/>
                </a:solidFill>
              </a:rPr>
              <a:t>This approach improves revenue collection and reduces disconnections which are also costly.</a:t>
            </a:r>
          </a:p>
          <a:p>
            <a:endParaRPr lang="en-GB" sz="1400" dirty="0">
              <a:solidFill>
                <a:srgbClr val="FFFFFF"/>
              </a:solidFill>
            </a:endParaRPr>
          </a:p>
        </p:txBody>
      </p:sp>
      <p:sp>
        <p:nvSpPr>
          <p:cNvPr id="14" name="Rectangle 13">
            <a:extLst>
              <a:ext uri="{FF2B5EF4-FFF2-40B4-BE49-F238E27FC236}">
                <a16:creationId xmlns:a16="http://schemas.microsoft.com/office/drawing/2014/main" id="{F9F40211-4307-4706-AE59-83AC153FB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6145103"/>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14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9A09FF-00AD-152C-73F1-F2A748273116}"/>
              </a:ext>
            </a:extLst>
          </p:cNvPr>
          <p:cNvSpPr>
            <a:spLocks noGrp="1"/>
          </p:cNvSpPr>
          <p:nvPr>
            <p:ph type="title"/>
          </p:nvPr>
        </p:nvSpPr>
        <p:spPr>
          <a:xfrm>
            <a:off x="768096" y="585216"/>
            <a:ext cx="2834314" cy="1499616"/>
          </a:xfrm>
        </p:spPr>
        <p:txBody>
          <a:bodyPr vert="horz" lIns="91440" tIns="45720" rIns="91440" bIns="45720" rtlCol="0">
            <a:normAutofit/>
          </a:bodyPr>
          <a:lstStyle/>
          <a:p>
            <a:r>
              <a:rPr lang="en-US" kern="1200" cap="all" spc="200" baseline="0">
                <a:solidFill>
                  <a:srgbClr val="FFFFFF"/>
                </a:solidFill>
                <a:latin typeface="+mj-lt"/>
                <a:ea typeface="+mj-ea"/>
                <a:cs typeface="+mj-cs"/>
              </a:rPr>
              <a:t>The End</a:t>
            </a:r>
          </a:p>
        </p:txBody>
      </p:sp>
      <p:cxnSp>
        <p:nvCxnSpPr>
          <p:cNvPr id="29" name="Straight Connector 28">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FFF366-9EC0-57B7-4CD9-78890A8EE865}"/>
              </a:ext>
            </a:extLst>
          </p:cNvPr>
          <p:cNvSpPr>
            <a:spLocks noGrp="1"/>
          </p:cNvSpPr>
          <p:nvPr>
            <p:ph idx="1"/>
          </p:nvPr>
        </p:nvSpPr>
        <p:spPr>
          <a:xfrm>
            <a:off x="768096" y="2286000"/>
            <a:ext cx="2843784" cy="3931920"/>
          </a:xfrm>
        </p:spPr>
        <p:txBody>
          <a:bodyPr vert="horz" lIns="91440" tIns="45720" rIns="91440" bIns="45720" rtlCol="0">
            <a:normAutofit/>
          </a:bodyPr>
          <a:lstStyle/>
          <a:p>
            <a:pPr marL="0" indent="0">
              <a:spcBef>
                <a:spcPts val="0"/>
              </a:spcBef>
              <a:buNone/>
            </a:pPr>
            <a:r>
              <a:rPr lang="en-US" cap="all">
                <a:solidFill>
                  <a:srgbClr val="FFFFFF"/>
                </a:solidFill>
              </a:rPr>
              <a:t>Thank You!</a:t>
            </a:r>
          </a:p>
        </p:txBody>
      </p:sp>
      <p:pic>
        <p:nvPicPr>
          <p:cNvPr id="7" name="Graphic 6" descr="Handshake">
            <a:extLst>
              <a:ext uri="{FF2B5EF4-FFF2-40B4-BE49-F238E27FC236}">
                <a16:creationId xmlns:a16="http://schemas.microsoft.com/office/drawing/2014/main" id="{1DD65671-28D0-DC36-6054-510A1D8D9D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00" y="1383030"/>
            <a:ext cx="4091940" cy="4091940"/>
          </a:xfrm>
          <a:prstGeom prst="rect">
            <a:avLst/>
          </a:prstGeom>
        </p:spPr>
      </p:pic>
    </p:spTree>
    <p:extLst>
      <p:ext uri="{BB962C8B-B14F-4D97-AF65-F5344CB8AC3E}">
        <p14:creationId xmlns:p14="http://schemas.microsoft.com/office/powerpoint/2010/main" val="417660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2454</TotalTime>
  <Words>931</Words>
  <Application>Microsoft Office PowerPoint</Application>
  <PresentationFormat>On-screen Show (4:3)</PresentationFormat>
  <Paragraphs>65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Tw Cen MT</vt:lpstr>
      <vt:lpstr>Tw Cen MT Condensed</vt:lpstr>
      <vt:lpstr>Wingdings 3</vt:lpstr>
      <vt:lpstr>Integral</vt:lpstr>
      <vt:lpstr>Water Consumption and Revenue Insights Report</vt:lpstr>
      <vt:lpstr>Contents</vt:lpstr>
      <vt:lpstr>Background information</vt:lpstr>
      <vt:lpstr>Executive Summary</vt:lpstr>
      <vt:lpstr>Key findings</vt:lpstr>
      <vt:lpstr>Customer segmentation</vt:lpstr>
      <vt:lpstr>Cluster by customer type</vt:lpstr>
      <vt:lpstr>Cluster by zone</vt:lpstr>
      <vt:lpstr>Customer segmentation  consumption</vt:lpstr>
      <vt:lpstr>REVENUE</vt:lpstr>
      <vt:lpstr>Predictors of arrears risk</vt:lpstr>
      <vt:lpstr>Strategic Recommendations</vt:lpstr>
      <vt:lpstr>The 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Christine Karani</dc:creator>
  <cp:keywords/>
  <dc:description>generated using python-pptx</dc:description>
  <cp:lastModifiedBy>Christine Karani</cp:lastModifiedBy>
  <cp:revision>4</cp:revision>
  <dcterms:created xsi:type="dcterms:W3CDTF">2013-01-27T09:14:16Z</dcterms:created>
  <dcterms:modified xsi:type="dcterms:W3CDTF">2025-12-17T10:57:41Z</dcterms:modified>
  <cp:category/>
</cp:coreProperties>
</file>