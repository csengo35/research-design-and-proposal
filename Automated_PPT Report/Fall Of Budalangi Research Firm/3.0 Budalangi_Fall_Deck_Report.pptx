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e Karani" userId="53ac3a4e-5d8f-427f-9526-9ea1b60f13e4" providerId="ADAL" clId="{3A4C4DAA-7D6A-4484-B795-4396F6907855}"/>
    <pc:docChg chg="custSel modSld">
      <pc:chgData name="Christine Karani" userId="53ac3a4e-5d8f-427f-9526-9ea1b60f13e4" providerId="ADAL" clId="{3A4C4DAA-7D6A-4484-B795-4396F6907855}" dt="2025-12-19T12:05:13.482" v="3" actId="27636"/>
      <pc:docMkLst>
        <pc:docMk/>
      </pc:docMkLst>
      <pc:sldChg chg="modSp mod">
        <pc:chgData name="Christine Karani" userId="53ac3a4e-5d8f-427f-9526-9ea1b60f13e4" providerId="ADAL" clId="{3A4C4DAA-7D6A-4484-B795-4396F6907855}" dt="2025-12-19T11:55:30.932" v="1" actId="27636"/>
        <pc:sldMkLst>
          <pc:docMk/>
          <pc:sldMk cId="0" sldId="258"/>
        </pc:sldMkLst>
        <pc:spChg chg="mod">
          <ac:chgData name="Christine Karani" userId="53ac3a4e-5d8f-427f-9526-9ea1b60f13e4" providerId="ADAL" clId="{3A4C4DAA-7D6A-4484-B795-4396F6907855}" dt="2025-12-19T11:55:30.932" v="1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Christine Karani" userId="53ac3a4e-5d8f-427f-9526-9ea1b60f13e4" providerId="ADAL" clId="{3A4C4DAA-7D6A-4484-B795-4396F6907855}" dt="2025-12-19T12:05:13.482" v="3" actId="27636"/>
        <pc:sldMkLst>
          <pc:docMk/>
          <pc:sldMk cId="0" sldId="263"/>
        </pc:sldMkLst>
        <pc:spChg chg="mod">
          <ac:chgData name="Christine Karani" userId="53ac3a4e-5d8f-427f-9526-9ea1b60f13e4" providerId="ADAL" clId="{3A4C4DAA-7D6A-4484-B795-4396F6907855}" dt="2025-12-19T12:05:13.482" v="3" actId="2763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Fall of Budalangi Clinical Research Firm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t>Synthetic Evidence (n=1,000), 2023–2025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t>1. Executive Summary
2. Findings: Key Drivers
3. Findings: Trends (2023–2025)
4. Findings: Role Differences
5. Findings: Most Associated Drivers
6. Conclusion &amp; Recommendations
7.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40000" lnSpcReduction="20000"/>
          </a:bodyPr>
          <a:lstStyle/>
          <a:p>
            <a:r>
              <a:rPr dirty="0"/>
              <a:t>What happened (2023–2025)
• Mean collapse score changed from 3.22 (2023) to 2.97 (2025).
• Profit decline and sales layoffs trend together, indicating weakening revenue engine.
Key drivers (ranked)
• Expensive Team Building (mean=3.08)
• Exit Of Major Clients (mean=3.07)
• Unsustainable Consultants (mean=3.04)
Workforce impacts
• Sales layoffs are consistently linked to profit decline and pipeline weakness.
• Highest pressure reported by: Senior Management (mean collapse=3.14).
Operational waste
• Time-consuming non-billable activities and non-income products reduce productivity and billable capacity.
Most associated with collapse (correlation)
• Theft Of Funds (r=0.04)
• Over Reliance On Specific Projects (r=0.04)
• Non Income Generating Products (r=0.04)
• Unsustainable Consultants (r=0.03)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Findings: Key Drivers</a:t>
            </a:r>
          </a:p>
        </p:txBody>
      </p:sp>
      <p:graphicFrame>
        <p:nvGraphicFramePr>
          <p:cNvPr id="3" name="Content Placeholder 3"/>
          <p:cNvGraphicFramePr>
            <a:graphicFrameLocks noGrp="1"/>
          </p:cNvGraphicFramePr>
          <p:nvPr/>
        </p:nvGraphicFramePr>
        <p:xfrm>
          <a:off x="4648200" y="1600200"/>
          <a:ext cx="3301154" cy="4220829"/>
        </p:xfrm>
        <a:graphic>
          <a:graphicData uri="http://schemas.openxmlformats.org/drawingml/2006/table">
            <a:tbl>
              <a:tblPr/>
              <a:tblGrid>
                <a:gridCol w="269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1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Factor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Mean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7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Expensive Team Building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Exit Of Major Clients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Unsustainable Consultants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Non Income Generating Products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7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Poor Leadership Management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17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Poor Financial Judgement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Pressure On Remaining Staff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Time Consuming Non Billable Activities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Over Reliance On Specific Projects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11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Decline In Profits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3.01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Content Placeholder 3"/>
          <p:cNvGrpSpPr/>
          <p:nvPr/>
        </p:nvGrpSpPr>
        <p:grpSpPr>
          <a:xfrm>
            <a:off x="4648200" y="1600200"/>
            <a:ext cx="4038600" cy="4525963"/>
            <a:chOff x="4648200" y="1600200"/>
            <a:chExt cx="4038600" cy="4525963"/>
          </a:xfrm>
        </p:grpSpPr>
        <p:sp>
          <p:nvSpPr>
            <p:cNvPr id="5" name="rc3"/>
            <p:cNvSpPr/>
            <p:nvPr/>
          </p:nvSpPr>
          <p:spPr>
            <a:xfrm>
              <a:off x="4648200" y="1600200"/>
              <a:ext cx="4038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4"/>
            <p:cNvSpPr/>
            <p:nvPr/>
          </p:nvSpPr>
          <p:spPr>
            <a:xfrm>
              <a:off x="4648200" y="1600200"/>
              <a:ext cx="4038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5"/>
            <p:cNvSpPr/>
            <p:nvPr/>
          </p:nvSpPr>
          <p:spPr>
            <a:xfrm>
              <a:off x="6714100" y="1894551"/>
              <a:ext cx="1903110" cy="3831608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pl6"/>
            <p:cNvSpPr/>
            <p:nvPr/>
          </p:nvSpPr>
          <p:spPr>
            <a:xfrm>
              <a:off x="697361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7"/>
            <p:cNvSpPr/>
            <p:nvPr/>
          </p:nvSpPr>
          <p:spPr>
            <a:xfrm>
              <a:off x="731963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8"/>
            <p:cNvSpPr/>
            <p:nvPr/>
          </p:nvSpPr>
          <p:spPr>
            <a:xfrm>
              <a:off x="766565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9"/>
            <p:cNvSpPr/>
            <p:nvPr/>
          </p:nvSpPr>
          <p:spPr>
            <a:xfrm>
              <a:off x="801167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0"/>
            <p:cNvSpPr/>
            <p:nvPr/>
          </p:nvSpPr>
          <p:spPr>
            <a:xfrm>
              <a:off x="835769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1"/>
            <p:cNvSpPr/>
            <p:nvPr/>
          </p:nvSpPr>
          <p:spPr>
            <a:xfrm>
              <a:off x="6714100" y="5500771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2"/>
            <p:cNvSpPr/>
            <p:nvPr/>
          </p:nvSpPr>
          <p:spPr>
            <a:xfrm>
              <a:off x="6714100" y="5125123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3"/>
            <p:cNvSpPr/>
            <p:nvPr/>
          </p:nvSpPr>
          <p:spPr>
            <a:xfrm>
              <a:off x="6714100" y="4749475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4"/>
            <p:cNvSpPr/>
            <p:nvPr/>
          </p:nvSpPr>
          <p:spPr>
            <a:xfrm>
              <a:off x="6714100" y="4373827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5"/>
            <p:cNvSpPr/>
            <p:nvPr/>
          </p:nvSpPr>
          <p:spPr>
            <a:xfrm>
              <a:off x="6714100" y="3998179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6"/>
            <p:cNvSpPr/>
            <p:nvPr/>
          </p:nvSpPr>
          <p:spPr>
            <a:xfrm>
              <a:off x="6714100" y="3622532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7"/>
            <p:cNvSpPr/>
            <p:nvPr/>
          </p:nvSpPr>
          <p:spPr>
            <a:xfrm>
              <a:off x="6714100" y="3246884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8"/>
            <p:cNvSpPr/>
            <p:nvPr/>
          </p:nvSpPr>
          <p:spPr>
            <a:xfrm>
              <a:off x="6714100" y="2871236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19"/>
            <p:cNvSpPr/>
            <p:nvPr/>
          </p:nvSpPr>
          <p:spPr>
            <a:xfrm>
              <a:off x="6714100" y="2495588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0"/>
            <p:cNvSpPr/>
            <p:nvPr/>
          </p:nvSpPr>
          <p:spPr>
            <a:xfrm>
              <a:off x="6714100" y="2119940"/>
              <a:ext cx="1903110" cy="0"/>
            </a:xfrm>
            <a:custGeom>
              <a:avLst/>
              <a:gdLst/>
              <a:ahLst/>
              <a:cxnLst/>
              <a:rect l="0" t="0" r="0" b="0"/>
              <a:pathLst>
                <a:path w="1903110">
                  <a:moveTo>
                    <a:pt x="0" y="0"/>
                  </a:moveTo>
                  <a:lnTo>
                    <a:pt x="1903110" y="0"/>
                  </a:lnTo>
                  <a:lnTo>
                    <a:pt x="190311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1"/>
            <p:cNvSpPr/>
            <p:nvPr/>
          </p:nvSpPr>
          <p:spPr>
            <a:xfrm>
              <a:off x="680060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2"/>
            <p:cNvSpPr/>
            <p:nvPr/>
          </p:nvSpPr>
          <p:spPr>
            <a:xfrm>
              <a:off x="714662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3"/>
            <p:cNvSpPr/>
            <p:nvPr/>
          </p:nvSpPr>
          <p:spPr>
            <a:xfrm>
              <a:off x="749264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4"/>
            <p:cNvSpPr/>
            <p:nvPr/>
          </p:nvSpPr>
          <p:spPr>
            <a:xfrm>
              <a:off x="783866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5"/>
            <p:cNvSpPr/>
            <p:nvPr/>
          </p:nvSpPr>
          <p:spPr>
            <a:xfrm>
              <a:off x="818468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6"/>
            <p:cNvSpPr/>
            <p:nvPr/>
          </p:nvSpPr>
          <p:spPr>
            <a:xfrm>
              <a:off x="8530705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7"/>
            <p:cNvSpPr/>
            <p:nvPr/>
          </p:nvSpPr>
          <p:spPr>
            <a:xfrm>
              <a:off x="6800605" y="1950898"/>
              <a:ext cx="1065741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rc28"/>
            <p:cNvSpPr/>
            <p:nvPr/>
          </p:nvSpPr>
          <p:spPr>
            <a:xfrm>
              <a:off x="6800605" y="2326546"/>
              <a:ext cx="1061589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rc29"/>
            <p:cNvSpPr/>
            <p:nvPr/>
          </p:nvSpPr>
          <p:spPr>
            <a:xfrm>
              <a:off x="6800605" y="2702194"/>
              <a:ext cx="1052592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" name="rc30"/>
            <p:cNvSpPr/>
            <p:nvPr/>
          </p:nvSpPr>
          <p:spPr>
            <a:xfrm>
              <a:off x="6800605" y="3077842"/>
              <a:ext cx="1050516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rc31"/>
            <p:cNvSpPr/>
            <p:nvPr/>
          </p:nvSpPr>
          <p:spPr>
            <a:xfrm>
              <a:off x="6800605" y="3453490"/>
              <a:ext cx="1046710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rc32"/>
            <p:cNvSpPr/>
            <p:nvPr/>
          </p:nvSpPr>
          <p:spPr>
            <a:xfrm>
              <a:off x="6800605" y="3829138"/>
              <a:ext cx="1044634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rc33"/>
            <p:cNvSpPr/>
            <p:nvPr/>
          </p:nvSpPr>
          <p:spPr>
            <a:xfrm>
              <a:off x="6800605" y="4204786"/>
              <a:ext cx="1044288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" name="rc34"/>
            <p:cNvSpPr/>
            <p:nvPr/>
          </p:nvSpPr>
          <p:spPr>
            <a:xfrm>
              <a:off x="6800605" y="4580434"/>
              <a:ext cx="1042558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" name="rc35"/>
            <p:cNvSpPr/>
            <p:nvPr/>
          </p:nvSpPr>
          <p:spPr>
            <a:xfrm>
              <a:off x="6800605" y="4956082"/>
              <a:ext cx="1041520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" name="rc36"/>
            <p:cNvSpPr/>
            <p:nvPr/>
          </p:nvSpPr>
          <p:spPr>
            <a:xfrm>
              <a:off x="6800605" y="5331729"/>
              <a:ext cx="1041174" cy="3380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" name="tx37"/>
            <p:cNvSpPr/>
            <p:nvPr/>
          </p:nvSpPr>
          <p:spPr>
            <a:xfrm>
              <a:off x="5806656" y="5460766"/>
              <a:ext cx="84481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Decline In Profits</a:t>
              </a:r>
            </a:p>
          </p:txBody>
        </p:sp>
        <p:sp>
          <p:nvSpPr>
            <p:cNvPr id="40" name="tx38"/>
            <p:cNvSpPr/>
            <p:nvPr/>
          </p:nvSpPr>
          <p:spPr>
            <a:xfrm>
              <a:off x="4905972" y="5085118"/>
              <a:ext cx="174549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Over Reliance On Specific Projects</a:t>
              </a:r>
            </a:p>
          </p:txBody>
        </p:sp>
        <p:sp>
          <p:nvSpPr>
            <p:cNvPr id="41" name="tx39"/>
            <p:cNvSpPr/>
            <p:nvPr/>
          </p:nvSpPr>
          <p:spPr>
            <a:xfrm>
              <a:off x="4717789" y="4709470"/>
              <a:ext cx="19336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Time Consuming Non Billable Activities</a:t>
              </a:r>
            </a:p>
          </p:txBody>
        </p:sp>
        <p:sp>
          <p:nvSpPr>
            <p:cNvPr id="42" name="tx40"/>
            <p:cNvSpPr/>
            <p:nvPr/>
          </p:nvSpPr>
          <p:spPr>
            <a:xfrm>
              <a:off x="5199677" y="4333822"/>
              <a:ext cx="145179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Pressure On Remaining Staff</a:t>
              </a:r>
            </a:p>
          </p:txBody>
        </p:sp>
        <p:sp>
          <p:nvSpPr>
            <p:cNvPr id="43" name="tx41"/>
            <p:cNvSpPr/>
            <p:nvPr/>
          </p:nvSpPr>
          <p:spPr>
            <a:xfrm>
              <a:off x="5352931" y="3958174"/>
              <a:ext cx="12985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Poor Financial Judgement</a:t>
              </a:r>
            </a:p>
          </p:txBody>
        </p:sp>
        <p:sp>
          <p:nvSpPr>
            <p:cNvPr id="44" name="tx42"/>
            <p:cNvSpPr/>
            <p:nvPr/>
          </p:nvSpPr>
          <p:spPr>
            <a:xfrm>
              <a:off x="5147557" y="3582527"/>
              <a:ext cx="150391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Poor Leadership Management</a:t>
              </a:r>
            </a:p>
          </p:txBody>
        </p:sp>
        <p:sp>
          <p:nvSpPr>
            <p:cNvPr id="45" name="tx43"/>
            <p:cNvSpPr/>
            <p:nvPr/>
          </p:nvSpPr>
          <p:spPr>
            <a:xfrm>
              <a:off x="4992383" y="3206879"/>
              <a:ext cx="165908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Non Income Generating Products</a:t>
              </a:r>
            </a:p>
          </p:txBody>
        </p:sp>
        <p:sp>
          <p:nvSpPr>
            <p:cNvPr id="46" name="tx44"/>
            <p:cNvSpPr/>
            <p:nvPr/>
          </p:nvSpPr>
          <p:spPr>
            <a:xfrm>
              <a:off x="5321841" y="2831231"/>
              <a:ext cx="132962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Unsustainable Consultants</a:t>
              </a:r>
            </a:p>
          </p:txBody>
        </p:sp>
        <p:sp>
          <p:nvSpPr>
            <p:cNvPr id="47" name="tx45"/>
            <p:cNvSpPr/>
            <p:nvPr/>
          </p:nvSpPr>
          <p:spPr>
            <a:xfrm>
              <a:off x="5632920" y="2455583"/>
              <a:ext cx="10185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Exit Of Major Clients</a:t>
              </a:r>
            </a:p>
          </p:txBody>
        </p:sp>
        <p:sp>
          <p:nvSpPr>
            <p:cNvPr id="48" name="tx46"/>
            <p:cNvSpPr/>
            <p:nvPr/>
          </p:nvSpPr>
          <p:spPr>
            <a:xfrm>
              <a:off x="5404777" y="2079935"/>
              <a:ext cx="124669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Expensive Team Building</a:t>
              </a:r>
            </a:p>
          </p:txBody>
        </p:sp>
        <p:sp>
          <p:nvSpPr>
            <p:cNvPr id="49" name="pl47"/>
            <p:cNvSpPr/>
            <p:nvPr/>
          </p:nvSpPr>
          <p:spPr>
            <a:xfrm>
              <a:off x="6679306" y="550077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8"/>
            <p:cNvSpPr/>
            <p:nvPr/>
          </p:nvSpPr>
          <p:spPr>
            <a:xfrm>
              <a:off x="6679306" y="51251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49"/>
            <p:cNvSpPr/>
            <p:nvPr/>
          </p:nvSpPr>
          <p:spPr>
            <a:xfrm>
              <a:off x="6679306" y="47494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0"/>
            <p:cNvSpPr/>
            <p:nvPr/>
          </p:nvSpPr>
          <p:spPr>
            <a:xfrm>
              <a:off x="6679306" y="43738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1"/>
            <p:cNvSpPr/>
            <p:nvPr/>
          </p:nvSpPr>
          <p:spPr>
            <a:xfrm>
              <a:off x="6679306" y="399817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2"/>
            <p:cNvSpPr/>
            <p:nvPr/>
          </p:nvSpPr>
          <p:spPr>
            <a:xfrm>
              <a:off x="6679306" y="36225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3"/>
            <p:cNvSpPr/>
            <p:nvPr/>
          </p:nvSpPr>
          <p:spPr>
            <a:xfrm>
              <a:off x="6679306" y="324688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4"/>
            <p:cNvSpPr/>
            <p:nvPr/>
          </p:nvSpPr>
          <p:spPr>
            <a:xfrm>
              <a:off x="6679306" y="287123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5"/>
            <p:cNvSpPr/>
            <p:nvPr/>
          </p:nvSpPr>
          <p:spPr>
            <a:xfrm>
              <a:off x="6679306" y="24955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6"/>
            <p:cNvSpPr/>
            <p:nvPr/>
          </p:nvSpPr>
          <p:spPr>
            <a:xfrm>
              <a:off x="6679306" y="21199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7"/>
            <p:cNvSpPr/>
            <p:nvPr/>
          </p:nvSpPr>
          <p:spPr>
            <a:xfrm>
              <a:off x="680060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58"/>
            <p:cNvSpPr/>
            <p:nvPr/>
          </p:nvSpPr>
          <p:spPr>
            <a:xfrm>
              <a:off x="714662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59"/>
            <p:cNvSpPr/>
            <p:nvPr/>
          </p:nvSpPr>
          <p:spPr>
            <a:xfrm>
              <a:off x="749264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0"/>
            <p:cNvSpPr/>
            <p:nvPr/>
          </p:nvSpPr>
          <p:spPr>
            <a:xfrm>
              <a:off x="783866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1"/>
            <p:cNvSpPr/>
            <p:nvPr/>
          </p:nvSpPr>
          <p:spPr>
            <a:xfrm>
              <a:off x="818468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2"/>
            <p:cNvSpPr/>
            <p:nvPr/>
          </p:nvSpPr>
          <p:spPr>
            <a:xfrm>
              <a:off x="8530705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tx63"/>
            <p:cNvSpPr/>
            <p:nvPr/>
          </p:nvSpPr>
          <p:spPr>
            <a:xfrm>
              <a:off x="676951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4"/>
            <p:cNvSpPr/>
            <p:nvPr/>
          </p:nvSpPr>
          <p:spPr>
            <a:xfrm>
              <a:off x="711553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" name="tx65"/>
            <p:cNvSpPr/>
            <p:nvPr/>
          </p:nvSpPr>
          <p:spPr>
            <a:xfrm>
              <a:off x="746155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" name="tx66"/>
            <p:cNvSpPr/>
            <p:nvPr/>
          </p:nvSpPr>
          <p:spPr>
            <a:xfrm>
              <a:off x="780757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9" name="tx67"/>
            <p:cNvSpPr/>
            <p:nvPr/>
          </p:nvSpPr>
          <p:spPr>
            <a:xfrm>
              <a:off x="815359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" name="tx68"/>
            <p:cNvSpPr/>
            <p:nvPr/>
          </p:nvSpPr>
          <p:spPr>
            <a:xfrm>
              <a:off x="8499616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1" name="tx69"/>
            <p:cNvSpPr/>
            <p:nvPr/>
          </p:nvSpPr>
          <p:spPr>
            <a:xfrm>
              <a:off x="7300581" y="5927094"/>
              <a:ext cx="73014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score</a:t>
              </a:r>
            </a:p>
          </p:txBody>
        </p:sp>
        <p:sp>
          <p:nvSpPr>
            <p:cNvPr id="72" name="tx70"/>
            <p:cNvSpPr/>
            <p:nvPr/>
          </p:nvSpPr>
          <p:spPr>
            <a:xfrm>
              <a:off x="6714100" y="1669789"/>
              <a:ext cx="263502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Top Drivers of Collapse (Mean 1–5)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Findings: Trends (2023–2025)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815871" y="1894551"/>
              <a:ext cx="7801339" cy="3831608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815871" y="5203668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815871" y="4507012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815871" y="3810355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815871" y="3113699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815871" y="2417043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2943509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6489573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3"/>
            <p:cNvSpPr/>
            <p:nvPr/>
          </p:nvSpPr>
          <p:spPr>
            <a:xfrm>
              <a:off x="815871" y="5551996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815871" y="4855340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815871" y="4158684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815871" y="3462027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815871" y="2765371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815871" y="2068715"/>
              <a:ext cx="7801339" cy="0"/>
            </a:xfrm>
            <a:custGeom>
              <a:avLst/>
              <a:gdLst/>
              <a:ahLst/>
              <a:cxnLst/>
              <a:rect l="0" t="0" r="0" b="0"/>
              <a:pathLst>
                <a:path w="7801339">
                  <a:moveTo>
                    <a:pt x="0" y="0"/>
                  </a:moveTo>
                  <a:lnTo>
                    <a:pt x="7801339" y="0"/>
                  </a:lnTo>
                  <a:lnTo>
                    <a:pt x="780133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1170478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4716541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8262604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1170478" y="3440105"/>
              <a:ext cx="7092126" cy="18659"/>
            </a:xfrm>
            <a:custGeom>
              <a:avLst/>
              <a:gdLst/>
              <a:ahLst/>
              <a:cxnLst/>
              <a:rect l="0" t="0" r="0" b="0"/>
              <a:pathLst>
                <a:path w="7092126" h="18659">
                  <a:moveTo>
                    <a:pt x="0" y="17067"/>
                  </a:moveTo>
                  <a:lnTo>
                    <a:pt x="3546063" y="18659"/>
                  </a:lnTo>
                  <a:lnTo>
                    <a:pt x="709212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1170478" y="3309103"/>
              <a:ext cx="7092126" cy="177283"/>
            </a:xfrm>
            <a:custGeom>
              <a:avLst/>
              <a:gdLst/>
              <a:ahLst/>
              <a:cxnLst/>
              <a:rect l="0" t="0" r="0" b="0"/>
              <a:pathLst>
                <a:path w="7092126" h="177283">
                  <a:moveTo>
                    <a:pt x="0" y="0"/>
                  </a:moveTo>
                  <a:lnTo>
                    <a:pt x="3546063" y="113768"/>
                  </a:lnTo>
                  <a:lnTo>
                    <a:pt x="7092126" y="17728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1170478" y="3359721"/>
              <a:ext cx="7092126" cy="192118"/>
            </a:xfrm>
            <a:custGeom>
              <a:avLst/>
              <a:gdLst/>
              <a:ahLst/>
              <a:cxnLst/>
              <a:rect l="0" t="0" r="0" b="0"/>
              <a:pathLst>
                <a:path w="7092126" h="192118">
                  <a:moveTo>
                    <a:pt x="0" y="192118"/>
                  </a:moveTo>
                  <a:lnTo>
                    <a:pt x="3546063" y="95780"/>
                  </a:lnTo>
                  <a:lnTo>
                    <a:pt x="709212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1170478" y="3432660"/>
              <a:ext cx="7092126" cy="112186"/>
            </a:xfrm>
            <a:custGeom>
              <a:avLst/>
              <a:gdLst/>
              <a:ahLst/>
              <a:cxnLst/>
              <a:rect l="0" t="0" r="0" b="0"/>
              <a:pathLst>
                <a:path w="7092126" h="112186">
                  <a:moveTo>
                    <a:pt x="0" y="238"/>
                  </a:moveTo>
                  <a:lnTo>
                    <a:pt x="3546063" y="0"/>
                  </a:lnTo>
                  <a:lnTo>
                    <a:pt x="7092126" y="1121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6"/>
            <p:cNvSpPr/>
            <p:nvPr/>
          </p:nvSpPr>
          <p:spPr>
            <a:xfrm>
              <a:off x="1145652" y="3284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7"/>
            <p:cNvSpPr/>
            <p:nvPr/>
          </p:nvSpPr>
          <p:spPr>
            <a:xfrm>
              <a:off x="1145652" y="352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8"/>
            <p:cNvSpPr/>
            <p:nvPr/>
          </p:nvSpPr>
          <p:spPr>
            <a:xfrm>
              <a:off x="1145652" y="340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29"/>
            <p:cNvSpPr/>
            <p:nvPr/>
          </p:nvSpPr>
          <p:spPr>
            <a:xfrm>
              <a:off x="1145652" y="3432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0"/>
            <p:cNvSpPr/>
            <p:nvPr/>
          </p:nvSpPr>
          <p:spPr>
            <a:xfrm>
              <a:off x="4691715" y="339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1"/>
            <p:cNvSpPr/>
            <p:nvPr/>
          </p:nvSpPr>
          <p:spPr>
            <a:xfrm>
              <a:off x="4691715" y="343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2"/>
            <p:cNvSpPr/>
            <p:nvPr/>
          </p:nvSpPr>
          <p:spPr>
            <a:xfrm>
              <a:off x="4691715" y="3407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3"/>
            <p:cNvSpPr/>
            <p:nvPr/>
          </p:nvSpPr>
          <p:spPr>
            <a:xfrm>
              <a:off x="4691715" y="3433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4"/>
            <p:cNvSpPr/>
            <p:nvPr/>
          </p:nvSpPr>
          <p:spPr>
            <a:xfrm>
              <a:off x="8237778" y="3461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5"/>
            <p:cNvSpPr/>
            <p:nvPr/>
          </p:nvSpPr>
          <p:spPr>
            <a:xfrm>
              <a:off x="8237778" y="3334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6"/>
            <p:cNvSpPr/>
            <p:nvPr/>
          </p:nvSpPr>
          <p:spPr>
            <a:xfrm>
              <a:off x="8237778" y="3520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7"/>
            <p:cNvSpPr/>
            <p:nvPr/>
          </p:nvSpPr>
          <p:spPr>
            <a:xfrm>
              <a:off x="8237778" y="3415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x38"/>
            <p:cNvSpPr/>
            <p:nvPr/>
          </p:nvSpPr>
          <p:spPr>
            <a:xfrm>
              <a:off x="691062" y="5511991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91062" y="4815335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91062" y="4118679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91062" y="3422022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91062" y="2725366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91062" y="202871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5" name="pl44"/>
            <p:cNvSpPr/>
            <p:nvPr/>
          </p:nvSpPr>
          <p:spPr>
            <a:xfrm>
              <a:off x="781077" y="555199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781077" y="48553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781077" y="415868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781077" y="34620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781077" y="276537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781077" y="206871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1170478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1"/>
            <p:cNvSpPr/>
            <p:nvPr/>
          </p:nvSpPr>
          <p:spPr>
            <a:xfrm>
              <a:off x="4716541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2"/>
            <p:cNvSpPr/>
            <p:nvPr/>
          </p:nvSpPr>
          <p:spPr>
            <a:xfrm>
              <a:off x="8262604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53"/>
            <p:cNvSpPr/>
            <p:nvPr/>
          </p:nvSpPr>
          <p:spPr>
            <a:xfrm>
              <a:off x="1046119" y="5788790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2023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4592183" y="5788790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2024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138246" y="5788790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4575358" y="5927094"/>
              <a:ext cx="282366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  <p:sp>
          <p:nvSpPr>
            <p:cNvPr id="58" name="tx57"/>
            <p:cNvSpPr/>
            <p:nvPr/>
          </p:nvSpPr>
          <p:spPr>
            <a:xfrm rot="-5400000">
              <a:off x="29172" y="3760338"/>
              <a:ext cx="109526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score (1–5)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15871" y="1669789"/>
              <a:ext cx="202411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Trend Signals (2023–2025)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Findings: Role Differences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1602208" y="1894551"/>
              <a:ext cx="7015002" cy="3831608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2558799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3834254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5109709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6385164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7660619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1602208" y="5284051"/>
              <a:ext cx="7015002" cy="0"/>
            </a:xfrm>
            <a:custGeom>
              <a:avLst/>
              <a:gdLst/>
              <a:ahLst/>
              <a:cxnLst/>
              <a:rect l="0" t="0" r="0" b="0"/>
              <a:pathLst>
                <a:path w="7015002">
                  <a:moveTo>
                    <a:pt x="0" y="0"/>
                  </a:moveTo>
                  <a:lnTo>
                    <a:pt x="7015002" y="0"/>
                  </a:lnTo>
                  <a:lnTo>
                    <a:pt x="701500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1602208" y="4547203"/>
              <a:ext cx="7015002" cy="0"/>
            </a:xfrm>
            <a:custGeom>
              <a:avLst/>
              <a:gdLst/>
              <a:ahLst/>
              <a:cxnLst/>
              <a:rect l="0" t="0" r="0" b="0"/>
              <a:pathLst>
                <a:path w="7015002">
                  <a:moveTo>
                    <a:pt x="0" y="0"/>
                  </a:moveTo>
                  <a:lnTo>
                    <a:pt x="7015002" y="0"/>
                  </a:lnTo>
                  <a:lnTo>
                    <a:pt x="701500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3"/>
            <p:cNvSpPr/>
            <p:nvPr/>
          </p:nvSpPr>
          <p:spPr>
            <a:xfrm>
              <a:off x="1602208" y="3810355"/>
              <a:ext cx="7015002" cy="0"/>
            </a:xfrm>
            <a:custGeom>
              <a:avLst/>
              <a:gdLst/>
              <a:ahLst/>
              <a:cxnLst/>
              <a:rect l="0" t="0" r="0" b="0"/>
              <a:pathLst>
                <a:path w="7015002">
                  <a:moveTo>
                    <a:pt x="0" y="0"/>
                  </a:moveTo>
                  <a:lnTo>
                    <a:pt x="7015002" y="0"/>
                  </a:lnTo>
                  <a:lnTo>
                    <a:pt x="701500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1602208" y="3073508"/>
              <a:ext cx="7015002" cy="0"/>
            </a:xfrm>
            <a:custGeom>
              <a:avLst/>
              <a:gdLst/>
              <a:ahLst/>
              <a:cxnLst/>
              <a:rect l="0" t="0" r="0" b="0"/>
              <a:pathLst>
                <a:path w="7015002">
                  <a:moveTo>
                    <a:pt x="0" y="0"/>
                  </a:moveTo>
                  <a:lnTo>
                    <a:pt x="7015002" y="0"/>
                  </a:lnTo>
                  <a:lnTo>
                    <a:pt x="701500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1602208" y="2336660"/>
              <a:ext cx="7015002" cy="0"/>
            </a:xfrm>
            <a:custGeom>
              <a:avLst/>
              <a:gdLst/>
              <a:ahLst/>
              <a:cxnLst/>
              <a:rect l="0" t="0" r="0" b="0"/>
              <a:pathLst>
                <a:path w="7015002">
                  <a:moveTo>
                    <a:pt x="0" y="0"/>
                  </a:moveTo>
                  <a:lnTo>
                    <a:pt x="7015002" y="0"/>
                  </a:lnTo>
                  <a:lnTo>
                    <a:pt x="701500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1921072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3196527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4471982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5747437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7022892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8298347" y="1894551"/>
              <a:ext cx="0" cy="3831608"/>
            </a:xfrm>
            <a:custGeom>
              <a:avLst/>
              <a:gdLst/>
              <a:ahLst/>
              <a:cxnLst/>
              <a:rect l="0" t="0" r="0" b="0"/>
              <a:pathLst>
                <a:path h="3831608">
                  <a:moveTo>
                    <a:pt x="0" y="383160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2"/>
            <p:cNvSpPr/>
            <p:nvPr/>
          </p:nvSpPr>
          <p:spPr>
            <a:xfrm>
              <a:off x="1921072" y="2005078"/>
              <a:ext cx="3999947" cy="6631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" name="rc23"/>
            <p:cNvSpPr/>
            <p:nvPr/>
          </p:nvSpPr>
          <p:spPr>
            <a:xfrm>
              <a:off x="1921072" y="2741926"/>
              <a:ext cx="3976418" cy="6631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" name="rc24"/>
            <p:cNvSpPr/>
            <p:nvPr/>
          </p:nvSpPr>
          <p:spPr>
            <a:xfrm>
              <a:off x="1921072" y="3478774"/>
              <a:ext cx="3930910" cy="6631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" name="rc25"/>
            <p:cNvSpPr/>
            <p:nvPr/>
          </p:nvSpPr>
          <p:spPr>
            <a:xfrm>
              <a:off x="1921072" y="4215622"/>
              <a:ext cx="3910883" cy="6631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" name="rc26"/>
            <p:cNvSpPr/>
            <p:nvPr/>
          </p:nvSpPr>
          <p:spPr>
            <a:xfrm>
              <a:off x="1921072" y="4952470"/>
              <a:ext cx="3841609" cy="6631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802206" y="5244046"/>
              <a:ext cx="73737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Research Staff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88982" y="4507198"/>
              <a:ext cx="65059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Support Staff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26789" y="3770350"/>
              <a:ext cx="101278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Middle Management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00996" y="3033503"/>
              <a:ext cx="5385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Sales Staff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32915" y="2296655"/>
              <a:ext cx="100666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Senior Management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1567414" y="52840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1567414" y="454720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1567414" y="381035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1567414" y="307350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1567414" y="23366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1921072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3196527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471982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747437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7022892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8298347" y="572616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43"/>
            <p:cNvSpPr/>
            <p:nvPr/>
          </p:nvSpPr>
          <p:spPr>
            <a:xfrm>
              <a:off x="1889982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3165437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440892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716347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6991802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8267257" y="5788790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468898" y="5927094"/>
              <a:ext cx="128162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collapse score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602208" y="1669789"/>
              <a:ext cx="1983333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Collapse Pressure by Role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Findings: Drivers Most Associated with Collapse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/>
        </p:nvGraphicFramePr>
        <p:xfrm>
          <a:off x="457200" y="1600200"/>
          <a:ext cx="3386556" cy="3416403"/>
        </p:xfrm>
        <a:graphic>
          <a:graphicData uri="http://schemas.openxmlformats.org/drawingml/2006/table">
            <a:tbl>
              <a:tblPr/>
              <a:tblGrid>
                <a:gridCol w="2442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Factor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Correlation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5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Theft Of Funds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Over Reliance On Specific Projects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Non Income Generating Products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Unsustainable Consultants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Pressure On Remaining Staff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11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Inefficient Internal Processes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Firing Of Sales People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94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Exit Of Major Clients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Conclusion
• Decline is consistent with governance weaknesses + unsustainable cost structure + strategic concentration risk.
</a:t>
            </a:r>
            <a:r>
              <a:t>• Top contributors: Expensive Team Building; Exit Of Major Clients; Unsustainable Consultants; Non Income Generating Products; Poor Leadership Management; Poor Financial Judgement.
</a:t>
            </a:r>
            <a:r>
              <a:rPr dirty="0"/>
              <a:t>Recommendations
• Strengthen financial controls (audit trails, access controls, segregation of duties).
• Reduce unsustainable costs (consultants, salary structure, office, discretionary events).
• Protect and rebuild the revenue engine (sales capacity, pipeline governance, client retention).
• Stop non-income products/activities unless ROI is proven; prioritize billable work.
• Diversify projects/clients to reduce over-reliance and improve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579</Words>
  <Application>Microsoft Office PowerPoint</Application>
  <PresentationFormat>On-screen Show (4:3)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Fall of Budalangi Clinical Research Firm</vt:lpstr>
      <vt:lpstr>Table of Contents</vt:lpstr>
      <vt:lpstr>Executive Summary</vt:lpstr>
      <vt:lpstr>Findings: Key Drivers</vt:lpstr>
      <vt:lpstr>Findings: Trends (2023–2025)</vt:lpstr>
      <vt:lpstr>Findings: Role Differences</vt:lpstr>
      <vt:lpstr>Findings: Drivers Most Associated with Collapse</vt:lpstr>
      <vt:lpstr>Conclusion &amp;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Christine Karani</cp:lastModifiedBy>
  <cp:revision>3</cp:revision>
  <dcterms:created xsi:type="dcterms:W3CDTF">2017-02-13T16:18:36Z</dcterms:created>
  <dcterms:modified xsi:type="dcterms:W3CDTF">2025-12-19T12:05:22Z</dcterms:modified>
  <cp:category/>
</cp:coreProperties>
</file>